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embeddedFontLst>
    <p:embeddedFont>
      <p:font typeface="Algerian" panose="04020705040A02060702" pitchFamily="82" charset="0"/>
      <p:regular r:id="rId21"/>
    </p:embeddedFont>
    <p:embeddedFont>
      <p:font typeface="Century Gothic" panose="020B0502020202020204" pitchFamily="34" charset="0"/>
      <p:regular r:id="rId22"/>
      <p:bold r:id="rId23"/>
      <p:italic r:id="rId24"/>
      <p:boldItalic r:id="rId25"/>
    </p:embeddedFont>
    <p:embeddedFont>
      <p:font typeface="Corbel" panose="020B050302020402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1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5c9f23eb6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5c9f23eb6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g35c9f23eb6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
          <p:cNvSpPr txBox="1">
            <a:spLocks noGrp="1"/>
          </p:cNvSpPr>
          <p:nvPr>
            <p:ph type="ctrTitle"/>
          </p:nvPr>
        </p:nvSpPr>
        <p:spPr>
          <a:xfrm>
            <a:off x="1154955" y="1447800"/>
            <a:ext cx="8825658" cy="332958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
          <p:cNvSpPr txBox="1">
            <a:spLocks noGrp="1"/>
          </p:cNvSpPr>
          <p:nvPr>
            <p:ph type="subTitle" idx="1"/>
          </p:nvPr>
        </p:nvSpPr>
        <p:spPr>
          <a:xfrm>
            <a:off x="1154955" y="4777380"/>
            <a:ext cx="8825658" cy="861420"/>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SzPts val="1600"/>
              <a:buNone/>
              <a:defRPr cap="none">
                <a:solidFill>
                  <a:schemeClr val="accent1"/>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a:endParaRPr/>
          </a:p>
        </p:txBody>
      </p:sp>
      <p:sp>
        <p:nvSpPr>
          <p:cNvPr id="24" name="Google Shape;24;p2"/>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3"/>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
        <p:cNvGrpSpPr/>
        <p:nvPr/>
      </p:nvGrpSpPr>
      <p:grpSpPr>
        <a:xfrm>
          <a:off x="0" y="0"/>
          <a:ext cx="0" cy="0"/>
          <a:chOff x="0" y="0"/>
          <a:chExt cx="0" cy="0"/>
        </a:xfrm>
      </p:grpSpPr>
      <p:sp>
        <p:nvSpPr>
          <p:cNvPr id="32" name="Google Shape;32;p4"/>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34" name="Google Shape;34;p4"/>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1154956" y="2861733"/>
            <a:ext cx="8825657" cy="191564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1154955" y="4777381"/>
            <a:ext cx="882565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chemeClr val="accent1"/>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40" name="Google Shape;40;p5"/>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
          <p:cNvSpPr txBox="1">
            <a:spLocks noGrp="1"/>
          </p:cNvSpPr>
          <p:nvPr>
            <p:ph type="body" idx="1"/>
          </p:nvPr>
        </p:nvSpPr>
        <p:spPr>
          <a:xfrm>
            <a:off x="1103312" y="2060575"/>
            <a:ext cx="4396339" cy="419576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46" name="Google Shape;46;p6"/>
          <p:cNvSpPr txBox="1">
            <a:spLocks noGrp="1"/>
          </p:cNvSpPr>
          <p:nvPr>
            <p:ph type="body" idx="2"/>
          </p:nvPr>
        </p:nvSpPr>
        <p:spPr>
          <a:xfrm>
            <a:off x="5654493" y="2056092"/>
            <a:ext cx="4396341" cy="4200245"/>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47" name="Google Shape;47;p6"/>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body" idx="1"/>
          </p:nvPr>
        </p:nvSpPr>
        <p:spPr>
          <a:xfrm>
            <a:off x="1103313" y="1905000"/>
            <a:ext cx="439633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53" name="Google Shape;53;p7"/>
          <p:cNvSpPr txBox="1">
            <a:spLocks noGrp="1"/>
          </p:cNvSpPr>
          <p:nvPr>
            <p:ph type="body" idx="2"/>
          </p:nvPr>
        </p:nvSpPr>
        <p:spPr>
          <a:xfrm>
            <a:off x="1103312" y="2514600"/>
            <a:ext cx="4396339" cy="374173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54" name="Google Shape;54;p7"/>
          <p:cNvSpPr txBox="1">
            <a:spLocks noGrp="1"/>
          </p:cNvSpPr>
          <p:nvPr>
            <p:ph type="body" idx="3"/>
          </p:nvPr>
        </p:nvSpPr>
        <p:spPr>
          <a:xfrm>
            <a:off x="5654495" y="1905000"/>
            <a:ext cx="4396339"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55" name="Google Shape;55;p7"/>
          <p:cNvSpPr txBox="1">
            <a:spLocks noGrp="1"/>
          </p:cNvSpPr>
          <p:nvPr>
            <p:ph type="body" idx="4"/>
          </p:nvPr>
        </p:nvSpPr>
        <p:spPr>
          <a:xfrm>
            <a:off x="5654495" y="2514600"/>
            <a:ext cx="4396339" cy="374173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56" name="Google Shape;56;p7"/>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8"/>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8"/>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8"/>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8"/>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1154954" y="1447800"/>
            <a:ext cx="3401064" cy="1447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body" idx="1"/>
          </p:nvPr>
        </p:nvSpPr>
        <p:spPr>
          <a:xfrm>
            <a:off x="4784616" y="1447800"/>
            <a:ext cx="5195997" cy="4572000"/>
          </a:xfrm>
          <a:prstGeom prst="rect">
            <a:avLst/>
          </a:prstGeom>
          <a:noFill/>
          <a:ln>
            <a:noFill/>
          </a:ln>
        </p:spPr>
        <p:txBody>
          <a:bodyPr spcFirstLastPara="1" wrap="square" lIns="91425" tIns="45700" rIns="91425" bIns="45700" anchor="ctr" anchorCtr="0">
            <a:normAutofit/>
          </a:bodyPr>
          <a:lstStyle>
            <a:lvl1pPr marL="457200" lvl="0" indent="-330200" algn="l">
              <a:spcBef>
                <a:spcPts val="1000"/>
              </a:spcBef>
              <a:spcAft>
                <a:spcPts val="0"/>
              </a:spcAft>
              <a:buSzPts val="1600"/>
              <a:buChar char="►"/>
              <a:defRPr sz="2000"/>
            </a:lvl1pPr>
            <a:lvl2pPr marL="914400" lvl="1" indent="-320040" algn="l">
              <a:spcBef>
                <a:spcPts val="1000"/>
              </a:spcBef>
              <a:spcAft>
                <a:spcPts val="0"/>
              </a:spcAft>
              <a:buSzPts val="1440"/>
              <a:buChar char="►"/>
              <a:defRPr sz="1800"/>
            </a:lvl2pPr>
            <a:lvl3pPr marL="1371600" lvl="2" indent="-309880" algn="l">
              <a:spcBef>
                <a:spcPts val="1000"/>
              </a:spcBef>
              <a:spcAft>
                <a:spcPts val="0"/>
              </a:spcAft>
              <a:buSzPts val="1280"/>
              <a:buChar char="►"/>
              <a:defRPr sz="1600"/>
            </a:lvl3pPr>
            <a:lvl4pPr marL="1828800" lvl="3" indent="-299719" algn="l">
              <a:spcBef>
                <a:spcPts val="1000"/>
              </a:spcBef>
              <a:spcAft>
                <a:spcPts val="0"/>
              </a:spcAft>
              <a:buSzPts val="1120"/>
              <a:buChar char="►"/>
              <a:defRPr sz="1400"/>
            </a:lvl4pPr>
            <a:lvl5pPr marL="2286000" lvl="4" indent="-299720" algn="l">
              <a:spcBef>
                <a:spcPts val="1000"/>
              </a:spcBef>
              <a:spcAft>
                <a:spcPts val="0"/>
              </a:spcAft>
              <a:buSzPts val="1120"/>
              <a:buChar char="►"/>
              <a:defRPr sz="1400"/>
            </a:lvl5pPr>
            <a:lvl6pPr marL="2743200" lvl="5" indent="-299720" algn="l">
              <a:spcBef>
                <a:spcPts val="1000"/>
              </a:spcBef>
              <a:spcAft>
                <a:spcPts val="0"/>
              </a:spcAft>
              <a:buSzPts val="1120"/>
              <a:buChar char="►"/>
              <a:defRPr sz="1400"/>
            </a:lvl6pPr>
            <a:lvl7pPr marL="3200400" lvl="6" indent="-299720" algn="l">
              <a:spcBef>
                <a:spcPts val="1000"/>
              </a:spcBef>
              <a:spcAft>
                <a:spcPts val="0"/>
              </a:spcAft>
              <a:buSzPts val="1120"/>
              <a:buChar char="►"/>
              <a:defRPr sz="1400"/>
            </a:lvl7pPr>
            <a:lvl8pPr marL="3657600" lvl="7" indent="-299720" algn="l">
              <a:spcBef>
                <a:spcPts val="1000"/>
              </a:spcBef>
              <a:spcAft>
                <a:spcPts val="0"/>
              </a:spcAft>
              <a:buSzPts val="1120"/>
              <a:buChar char="►"/>
              <a:defRPr sz="1400"/>
            </a:lvl8pPr>
            <a:lvl9pPr marL="4114800" lvl="8" indent="-299720" algn="l">
              <a:spcBef>
                <a:spcPts val="1000"/>
              </a:spcBef>
              <a:spcAft>
                <a:spcPts val="0"/>
              </a:spcAft>
              <a:buSzPts val="1120"/>
              <a:buChar char="►"/>
              <a:defRPr sz="1400"/>
            </a:lvl9pPr>
          </a:lstStyle>
          <a:p>
            <a:endParaRPr/>
          </a:p>
        </p:txBody>
      </p:sp>
      <p:sp>
        <p:nvSpPr>
          <p:cNvPr id="67" name="Google Shape;67;p9"/>
          <p:cNvSpPr txBox="1">
            <a:spLocks noGrp="1"/>
          </p:cNvSpPr>
          <p:nvPr>
            <p:ph type="body" idx="2"/>
          </p:nvPr>
        </p:nvSpPr>
        <p:spPr>
          <a:xfrm>
            <a:off x="1154954" y="3129280"/>
            <a:ext cx="3401063" cy="289559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68" name="Google Shape;68;p9"/>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1153907" y="1854192"/>
            <a:ext cx="5092906" cy="157480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3600"/>
              <a:buFont typeface="Century Gothic"/>
              <a:buNone/>
              <a:defRPr sz="36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a:spLocks noGrp="1"/>
          </p:cNvSpPr>
          <p:nvPr>
            <p:ph type="pic" idx="2"/>
          </p:nvPr>
        </p:nvSpPr>
        <p:spPr>
          <a:xfrm>
            <a:off x="6949546" y="1143000"/>
            <a:ext cx="3200400" cy="4572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74" name="Google Shape;74;p10"/>
          <p:cNvSpPr txBox="1">
            <a:spLocks noGrp="1"/>
          </p:cNvSpPr>
          <p:nvPr>
            <p:ph type="body" idx="1"/>
          </p:nvPr>
        </p:nvSpPr>
        <p:spPr>
          <a:xfrm>
            <a:off x="1154954" y="3657600"/>
            <a:ext cx="5084979" cy="1371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75" name="Google Shape;75;p10"/>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0"/>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1154956" y="4800587"/>
            <a:ext cx="882565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
          <p:cNvSpPr>
            <a:spLocks noGrp="1"/>
          </p:cNvSpPr>
          <p:nvPr>
            <p:ph type="pic" idx="2"/>
          </p:nvPr>
        </p:nvSpPr>
        <p:spPr>
          <a:xfrm>
            <a:off x="1154955" y="685800"/>
            <a:ext cx="8825658" cy="3640666"/>
          </a:xfrm>
          <a:prstGeom prst="roundRect">
            <a:avLst>
              <a:gd name="adj" fmla="val 1858"/>
            </a:avLst>
          </a:prstGeom>
          <a:noFill/>
          <a:ln>
            <a:noFill/>
          </a:ln>
          <a:effectLst>
            <a:outerShdw blurRad="50800" dist="50800" dir="5400000" algn="tl" rotWithShape="0">
              <a:srgbClr val="000000">
                <a:alpha val="42745"/>
              </a:srgbClr>
            </a:outerShdw>
          </a:effectLst>
        </p:spPr>
      </p:sp>
      <p:sp>
        <p:nvSpPr>
          <p:cNvPr id="81" name="Google Shape;81;p11"/>
          <p:cNvSpPr txBox="1">
            <a:spLocks noGrp="1"/>
          </p:cNvSpPr>
          <p:nvPr>
            <p:ph type="body" idx="1"/>
          </p:nvPr>
        </p:nvSpPr>
        <p:spPr>
          <a:xfrm>
            <a:off x="1154956" y="5367325"/>
            <a:ext cx="8825656"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2" name="Google Shape;82;p11"/>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1"/>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85"/>
        <p:cNvGrpSpPr/>
        <p:nvPr/>
      </p:nvGrpSpPr>
      <p:grpSpPr>
        <a:xfrm>
          <a:off x="0" y="0"/>
          <a:ext cx="0" cy="0"/>
          <a:chOff x="0" y="0"/>
          <a:chExt cx="0" cy="0"/>
        </a:xfrm>
      </p:grpSpPr>
      <p:sp>
        <p:nvSpPr>
          <p:cNvPr id="86" name="Google Shape;86;p12"/>
          <p:cNvSpPr txBox="1">
            <a:spLocks noGrp="1"/>
          </p:cNvSpPr>
          <p:nvPr>
            <p:ph type="title"/>
          </p:nvPr>
        </p:nvSpPr>
        <p:spPr>
          <a:xfrm>
            <a:off x="1154954" y="1447800"/>
            <a:ext cx="8825659" cy="1981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2"/>
          <p:cNvSpPr txBox="1">
            <a:spLocks noGrp="1"/>
          </p:cNvSpPr>
          <p:nvPr>
            <p:ph type="body" idx="1"/>
          </p:nvPr>
        </p:nvSpPr>
        <p:spPr>
          <a:xfrm>
            <a:off x="1154954" y="3657600"/>
            <a:ext cx="8825659" cy="23622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8" name="Google Shape;88;p12"/>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2"/>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1574801" y="1447800"/>
            <a:ext cx="7999315" cy="2323374"/>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3"/>
          <p:cNvSpPr txBox="1">
            <a:spLocks noGrp="1"/>
          </p:cNvSpPr>
          <p:nvPr>
            <p:ph type="body" idx="1"/>
          </p:nvPr>
        </p:nvSpPr>
        <p:spPr>
          <a:xfrm>
            <a:off x="1930400" y="3771174"/>
            <a:ext cx="7385828" cy="34217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b="0" i="0" cap="small">
                <a:solidFill>
                  <a:schemeClr val="accent1"/>
                </a:solidFill>
                <a:latin typeface="Century Gothic"/>
                <a:ea typeface="Century Gothic"/>
                <a:cs typeface="Century Gothic"/>
                <a:sym typeface="Century Gothic"/>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4" name="Google Shape;94;p13"/>
          <p:cNvSpPr txBox="1">
            <a:spLocks noGrp="1"/>
          </p:cNvSpPr>
          <p:nvPr>
            <p:ph type="body" idx="2"/>
          </p:nvPr>
        </p:nvSpPr>
        <p:spPr>
          <a:xfrm>
            <a:off x="1154954" y="4350657"/>
            <a:ext cx="8825659" cy="16764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5" name="Google Shape;95;p13"/>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3"/>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98" name="Google Shape;98;p13"/>
          <p:cNvSpPr txBox="1"/>
          <p:nvPr/>
        </p:nvSpPr>
        <p:spPr>
          <a:xfrm>
            <a:off x="898295" y="971253"/>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200" b="0" i="0">
                <a:solidFill>
                  <a:schemeClr val="accent1"/>
                </a:solidFill>
                <a:latin typeface="Arial"/>
                <a:ea typeface="Arial"/>
                <a:cs typeface="Arial"/>
                <a:sym typeface="Arial"/>
              </a:rPr>
              <a:t>“</a:t>
            </a:r>
            <a:endParaRPr/>
          </a:p>
        </p:txBody>
      </p:sp>
      <p:sp>
        <p:nvSpPr>
          <p:cNvPr id="99" name="Google Shape;99;p13"/>
          <p:cNvSpPr txBox="1"/>
          <p:nvPr/>
        </p:nvSpPr>
        <p:spPr>
          <a:xfrm>
            <a:off x="9330490" y="2613787"/>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200" b="0" i="0">
                <a:solidFill>
                  <a:schemeClr val="accent1"/>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0"/>
        <p:cNvGrpSpPr/>
        <p:nvPr/>
      </p:nvGrpSpPr>
      <p:grpSpPr>
        <a:xfrm>
          <a:off x="0" y="0"/>
          <a:ext cx="0" cy="0"/>
          <a:chOff x="0" y="0"/>
          <a:chExt cx="0" cy="0"/>
        </a:xfrm>
      </p:grpSpPr>
      <p:sp>
        <p:nvSpPr>
          <p:cNvPr id="101" name="Google Shape;101;p14"/>
          <p:cNvSpPr txBox="1">
            <a:spLocks noGrp="1"/>
          </p:cNvSpPr>
          <p:nvPr>
            <p:ph type="title"/>
          </p:nvPr>
        </p:nvSpPr>
        <p:spPr>
          <a:xfrm>
            <a:off x="1154954" y="3124201"/>
            <a:ext cx="8825659" cy="165318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4"/>
          <p:cNvSpPr txBox="1">
            <a:spLocks noGrp="1"/>
          </p:cNvSpPr>
          <p:nvPr>
            <p:ph type="body" idx="1"/>
          </p:nvPr>
        </p:nvSpPr>
        <p:spPr>
          <a:xfrm>
            <a:off x="1154955" y="4777381"/>
            <a:ext cx="882565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chemeClr val="accent1"/>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103" name="Google Shape;103;p14"/>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4"/>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6"/>
        <p:cNvGrpSpPr/>
        <p:nvPr/>
      </p:nvGrpSpPr>
      <p:grpSpPr>
        <a:xfrm>
          <a:off x="0" y="0"/>
          <a:ext cx="0" cy="0"/>
          <a:chOff x="0" y="0"/>
          <a:chExt cx="0" cy="0"/>
        </a:xfrm>
      </p:grpSpPr>
      <p:sp>
        <p:nvSpPr>
          <p:cNvPr id="107" name="Google Shape;107;p15"/>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5"/>
          <p:cNvSpPr txBox="1">
            <a:spLocks noGrp="1"/>
          </p:cNvSpPr>
          <p:nvPr>
            <p:ph type="body" idx="1"/>
          </p:nvPr>
        </p:nvSpPr>
        <p:spPr>
          <a:xfrm>
            <a:off x="632947" y="1981200"/>
            <a:ext cx="2946866"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09" name="Google Shape;109;p15"/>
          <p:cNvSpPr txBox="1">
            <a:spLocks noGrp="1"/>
          </p:cNvSpPr>
          <p:nvPr>
            <p:ph type="body" idx="2"/>
          </p:nvPr>
        </p:nvSpPr>
        <p:spPr>
          <a:xfrm>
            <a:off x="652463" y="2667000"/>
            <a:ext cx="2927350"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10" name="Google Shape;110;p15"/>
          <p:cNvSpPr txBox="1">
            <a:spLocks noGrp="1"/>
          </p:cNvSpPr>
          <p:nvPr>
            <p:ph type="body" idx="3"/>
          </p:nvPr>
        </p:nvSpPr>
        <p:spPr>
          <a:xfrm>
            <a:off x="3883659" y="1981200"/>
            <a:ext cx="2936241"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11" name="Google Shape;111;p15"/>
          <p:cNvSpPr txBox="1">
            <a:spLocks noGrp="1"/>
          </p:cNvSpPr>
          <p:nvPr>
            <p:ph type="body" idx="4"/>
          </p:nvPr>
        </p:nvSpPr>
        <p:spPr>
          <a:xfrm>
            <a:off x="3873106" y="2667000"/>
            <a:ext cx="2946794"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12" name="Google Shape;112;p15"/>
          <p:cNvSpPr txBox="1">
            <a:spLocks noGrp="1"/>
          </p:cNvSpPr>
          <p:nvPr>
            <p:ph type="body" idx="5"/>
          </p:nvPr>
        </p:nvSpPr>
        <p:spPr>
          <a:xfrm>
            <a:off x="7124700" y="1981200"/>
            <a:ext cx="29321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13" name="Google Shape;113;p15"/>
          <p:cNvSpPr txBox="1">
            <a:spLocks noGrp="1"/>
          </p:cNvSpPr>
          <p:nvPr>
            <p:ph type="body" idx="6"/>
          </p:nvPr>
        </p:nvSpPr>
        <p:spPr>
          <a:xfrm>
            <a:off x="7124700" y="2667000"/>
            <a:ext cx="2932113"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114" name="Google Shape;114;p15"/>
          <p:cNvCxnSpPr/>
          <p:nvPr/>
        </p:nvCxnSpPr>
        <p:spPr>
          <a:xfrm>
            <a:off x="3726142" y="2133600"/>
            <a:ext cx="0" cy="3962400"/>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115" name="Google Shape;115;p15"/>
          <p:cNvCxnSpPr/>
          <p:nvPr/>
        </p:nvCxnSpPr>
        <p:spPr>
          <a:xfrm>
            <a:off x="6962227" y="2133600"/>
            <a:ext cx="0" cy="3966882"/>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116" name="Google Shape;116;p15"/>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5"/>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15"/>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9"/>
        <p:cNvGrpSpPr/>
        <p:nvPr/>
      </p:nvGrpSpPr>
      <p:grpSpPr>
        <a:xfrm>
          <a:off x="0" y="0"/>
          <a:ext cx="0" cy="0"/>
          <a:chOff x="0" y="0"/>
          <a:chExt cx="0" cy="0"/>
        </a:xfrm>
      </p:grpSpPr>
      <p:sp>
        <p:nvSpPr>
          <p:cNvPr id="120" name="Google Shape;120;p16"/>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6"/>
          <p:cNvSpPr txBox="1">
            <a:spLocks noGrp="1"/>
          </p:cNvSpPr>
          <p:nvPr>
            <p:ph type="body" idx="1"/>
          </p:nvPr>
        </p:nvSpPr>
        <p:spPr>
          <a:xfrm>
            <a:off x="652463" y="4250949"/>
            <a:ext cx="2940050"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22" name="Google Shape;122;p16"/>
          <p:cNvSpPr>
            <a:spLocks noGrp="1"/>
          </p:cNvSpPr>
          <p:nvPr>
            <p:ph type="pic" idx="2"/>
          </p:nvPr>
        </p:nvSpPr>
        <p:spPr>
          <a:xfrm>
            <a:off x="652463" y="2209800"/>
            <a:ext cx="2940050"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3" name="Google Shape;123;p16"/>
          <p:cNvSpPr txBox="1">
            <a:spLocks noGrp="1"/>
          </p:cNvSpPr>
          <p:nvPr>
            <p:ph type="body" idx="3"/>
          </p:nvPr>
        </p:nvSpPr>
        <p:spPr>
          <a:xfrm>
            <a:off x="652463" y="4827211"/>
            <a:ext cx="2940050"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24" name="Google Shape;124;p16"/>
          <p:cNvSpPr txBox="1">
            <a:spLocks noGrp="1"/>
          </p:cNvSpPr>
          <p:nvPr>
            <p:ph type="body" idx="4"/>
          </p:nvPr>
        </p:nvSpPr>
        <p:spPr>
          <a:xfrm>
            <a:off x="3889375" y="4250949"/>
            <a:ext cx="2930525"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25" name="Google Shape;125;p16"/>
          <p:cNvSpPr>
            <a:spLocks noGrp="1"/>
          </p:cNvSpPr>
          <p:nvPr>
            <p:ph type="pic" idx="5"/>
          </p:nvPr>
        </p:nvSpPr>
        <p:spPr>
          <a:xfrm>
            <a:off x="3889374" y="2209800"/>
            <a:ext cx="2930525"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6" name="Google Shape;126;p16"/>
          <p:cNvSpPr txBox="1">
            <a:spLocks noGrp="1"/>
          </p:cNvSpPr>
          <p:nvPr>
            <p:ph type="body" idx="6"/>
          </p:nvPr>
        </p:nvSpPr>
        <p:spPr>
          <a:xfrm>
            <a:off x="3888022" y="4827210"/>
            <a:ext cx="2934406"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27" name="Google Shape;127;p16"/>
          <p:cNvSpPr txBox="1">
            <a:spLocks noGrp="1"/>
          </p:cNvSpPr>
          <p:nvPr>
            <p:ph type="body" idx="7"/>
          </p:nvPr>
        </p:nvSpPr>
        <p:spPr>
          <a:xfrm>
            <a:off x="7124700" y="4250949"/>
            <a:ext cx="29321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chemeClr val="accent1"/>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28" name="Google Shape;128;p16"/>
          <p:cNvSpPr>
            <a:spLocks noGrp="1"/>
          </p:cNvSpPr>
          <p:nvPr>
            <p:ph type="pic" idx="8"/>
          </p:nvPr>
        </p:nvSpPr>
        <p:spPr>
          <a:xfrm>
            <a:off x="7124699" y="2209800"/>
            <a:ext cx="2932113"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9" name="Google Shape;129;p16"/>
          <p:cNvSpPr txBox="1">
            <a:spLocks noGrp="1"/>
          </p:cNvSpPr>
          <p:nvPr>
            <p:ph type="body" idx="9"/>
          </p:nvPr>
        </p:nvSpPr>
        <p:spPr>
          <a:xfrm>
            <a:off x="7124575" y="4827208"/>
            <a:ext cx="2935997"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130" name="Google Shape;130;p16"/>
          <p:cNvCxnSpPr/>
          <p:nvPr/>
        </p:nvCxnSpPr>
        <p:spPr>
          <a:xfrm>
            <a:off x="3726142" y="2133600"/>
            <a:ext cx="0" cy="3962400"/>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131" name="Google Shape;131;p16"/>
          <p:cNvCxnSpPr/>
          <p:nvPr/>
        </p:nvCxnSpPr>
        <p:spPr>
          <a:xfrm>
            <a:off x="6962227" y="2133600"/>
            <a:ext cx="0" cy="3966882"/>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132" name="Google Shape;132;p16"/>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6"/>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6"/>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5"/>
        <p:cNvGrpSpPr/>
        <p:nvPr/>
      </p:nvGrpSpPr>
      <p:grpSpPr>
        <a:xfrm>
          <a:off x="0" y="0"/>
          <a:ext cx="0" cy="0"/>
          <a:chOff x="0" y="0"/>
          <a:chExt cx="0" cy="0"/>
        </a:xfrm>
      </p:grpSpPr>
      <p:sp>
        <p:nvSpPr>
          <p:cNvPr id="136" name="Google Shape;136;p17"/>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7"/>
          <p:cNvSpPr txBox="1">
            <a:spLocks noGrp="1"/>
          </p:cNvSpPr>
          <p:nvPr>
            <p:ph type="body" idx="1"/>
          </p:nvPr>
        </p:nvSpPr>
        <p:spPr>
          <a:xfrm rot="5400000">
            <a:off x="3478842" y="-322612"/>
            <a:ext cx="4195481" cy="894654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8" name="Google Shape;138;p17"/>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7"/>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1"/>
        <p:cNvGrpSpPr/>
        <p:nvPr/>
      </p:nvGrpSpPr>
      <p:grpSpPr>
        <a:xfrm>
          <a:off x="0" y="0"/>
          <a:ext cx="0" cy="0"/>
          <a:chOff x="0" y="0"/>
          <a:chExt cx="0" cy="0"/>
        </a:xfrm>
      </p:grpSpPr>
      <p:sp>
        <p:nvSpPr>
          <p:cNvPr id="142" name="Google Shape;142;p18"/>
          <p:cNvSpPr txBox="1">
            <a:spLocks noGrp="1"/>
          </p:cNvSpPr>
          <p:nvPr>
            <p:ph type="title"/>
          </p:nvPr>
        </p:nvSpPr>
        <p:spPr>
          <a:xfrm rot="5400000">
            <a:off x="6267450" y="2466975"/>
            <a:ext cx="5826125" cy="17526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8"/>
          <p:cNvSpPr txBox="1">
            <a:spLocks noGrp="1"/>
          </p:cNvSpPr>
          <p:nvPr>
            <p:ph type="body" idx="1"/>
          </p:nvPr>
        </p:nvSpPr>
        <p:spPr>
          <a:xfrm rot="5400000">
            <a:off x="1679576" y="-139699"/>
            <a:ext cx="5368924" cy="7423149"/>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44" name="Google Shape;144;p18"/>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18"/>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18"/>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19">
            <a:alphaModFix/>
          </a:blip>
          <a:srcRect l="3613"/>
          <a:stretch/>
        </p:blipFill>
        <p:spPr>
          <a:xfrm>
            <a:off x="0" y="2669685"/>
            <a:ext cx="4037012" cy="4188315"/>
          </a:xfrm>
          <a:prstGeom prst="rect">
            <a:avLst/>
          </a:prstGeom>
          <a:noFill/>
          <a:ln>
            <a:noFill/>
          </a:ln>
        </p:spPr>
      </p:pic>
      <p:pic>
        <p:nvPicPr>
          <p:cNvPr id="11" name="Google Shape;11;p1"/>
          <p:cNvPicPr preferRelativeResize="0"/>
          <p:nvPr/>
        </p:nvPicPr>
        <p:blipFill rotWithShape="1">
          <a:blip r:embed="rId20">
            <a:alphaModFix/>
          </a:blip>
          <a:srcRect l="35640"/>
          <a:stretch/>
        </p:blipFill>
        <p:spPr>
          <a:xfrm>
            <a:off x="0" y="2892347"/>
            <a:ext cx="1522412" cy="2365453"/>
          </a:xfrm>
          <a:prstGeom prst="rect">
            <a:avLst/>
          </a:prstGeom>
          <a:noFill/>
          <a:ln>
            <a:noFill/>
          </a:ln>
        </p:spPr>
      </p:pic>
      <p:sp>
        <p:nvSpPr>
          <p:cNvPr id="12" name="Google Shape;12;p1"/>
          <p:cNvSpPr/>
          <p:nvPr/>
        </p:nvSpPr>
        <p:spPr>
          <a:xfrm>
            <a:off x="8609012" y="1676400"/>
            <a:ext cx="2819400" cy="2819400"/>
          </a:xfrm>
          <a:prstGeom prst="ellipse">
            <a:avLst/>
          </a:prstGeom>
          <a:gradFill>
            <a:gsLst>
              <a:gs pos="0">
                <a:srgbClr val="FAC867">
                  <a:alpha val="6666"/>
                </a:srgbClr>
              </a:gs>
              <a:gs pos="36000">
                <a:srgbClr val="FAC867">
                  <a:alpha val="5882"/>
                </a:srgbClr>
              </a:gs>
              <a:gs pos="69000">
                <a:srgbClr val="FAC867">
                  <a:alpha val="0"/>
                </a:srgbClr>
              </a:gs>
              <a:gs pos="100000">
                <a:srgbClr val="FAC867">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1"/>
          <p:cNvPicPr preferRelativeResize="0"/>
          <p:nvPr/>
        </p:nvPicPr>
        <p:blipFill rotWithShape="1">
          <a:blip r:embed="rId21">
            <a:alphaModFix/>
          </a:blip>
          <a:srcRect t="28713"/>
          <a:stretch/>
        </p:blipFill>
        <p:spPr>
          <a:xfrm>
            <a:off x="8000197" y="0"/>
            <a:ext cx="1603387" cy="1143000"/>
          </a:xfrm>
          <a:prstGeom prst="rect">
            <a:avLst/>
          </a:prstGeom>
          <a:noFill/>
          <a:ln>
            <a:noFill/>
          </a:ln>
        </p:spPr>
      </p:pic>
      <p:pic>
        <p:nvPicPr>
          <p:cNvPr id="14" name="Google Shape;14;p1"/>
          <p:cNvPicPr preferRelativeResize="0"/>
          <p:nvPr/>
        </p:nvPicPr>
        <p:blipFill rotWithShape="1">
          <a:blip r:embed="rId22">
            <a:alphaModFix/>
          </a:blip>
          <a:srcRect b="24199"/>
          <a:stretch/>
        </p:blipFill>
        <p:spPr>
          <a:xfrm>
            <a:off x="8609012" y="6092866"/>
            <a:ext cx="993734" cy="765134"/>
          </a:xfrm>
          <a:prstGeom prst="rect">
            <a:avLst/>
          </a:prstGeom>
          <a:noFill/>
          <a:ln>
            <a:noFill/>
          </a:ln>
        </p:spPr>
      </p:pic>
      <p:sp>
        <p:nvSpPr>
          <p:cNvPr id="15" name="Google Shape;15;p1"/>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2"/>
              </a:buClr>
              <a:buSzPts val="4200"/>
              <a:buFont typeface="Century Gothic"/>
              <a:buNone/>
              <a:defRPr sz="4200" b="0" i="0" u="none" strike="noStrike" cap="none">
                <a:solidFill>
                  <a:schemeClr val="lt2"/>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17" name="Google Shape;17;p1"/>
          <p:cNvSpPr txBox="1">
            <a:spLocks noGrp="1"/>
          </p:cNvSpPr>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marR="0" lvl="0" indent="-330200" algn="l" rtl="0">
              <a:spcBef>
                <a:spcPts val="1000"/>
              </a:spcBef>
              <a:spcAft>
                <a:spcPts val="0"/>
              </a:spcAft>
              <a:buClr>
                <a:schemeClr val="accent1"/>
              </a:buClr>
              <a:buSzPts val="160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spcBef>
                <a:spcPts val="1000"/>
              </a:spcBef>
              <a:spcAft>
                <a:spcPts val="0"/>
              </a:spcAft>
              <a:buClr>
                <a:schemeClr val="accent1"/>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09880" algn="l" rtl="0">
              <a:spcBef>
                <a:spcPts val="1000"/>
              </a:spcBef>
              <a:spcAft>
                <a:spcPts val="0"/>
              </a:spcAft>
              <a:buClr>
                <a:schemeClr val="accent1"/>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299719" algn="l" rtl="0">
              <a:spcBef>
                <a:spcPts val="1000"/>
              </a:spcBef>
              <a:spcAft>
                <a:spcPts val="0"/>
              </a:spcAft>
              <a:buClr>
                <a:schemeClr val="accent1"/>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299720" algn="l" rtl="0">
              <a:spcBef>
                <a:spcPts val="1000"/>
              </a:spcBef>
              <a:spcAft>
                <a:spcPts val="0"/>
              </a:spcAft>
              <a:buClr>
                <a:schemeClr val="accent1"/>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299720" algn="l" rtl="0">
              <a:spcBef>
                <a:spcPts val="1000"/>
              </a:spcBef>
              <a:spcAft>
                <a:spcPts val="0"/>
              </a:spcAft>
              <a:buClr>
                <a:schemeClr val="accent1"/>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299720" algn="l" rtl="0">
              <a:spcBef>
                <a:spcPts val="1000"/>
              </a:spcBef>
              <a:spcAft>
                <a:spcPts val="0"/>
              </a:spcAft>
              <a:buClr>
                <a:schemeClr val="accent1"/>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299720" algn="l" rtl="0">
              <a:spcBef>
                <a:spcPts val="1000"/>
              </a:spcBef>
              <a:spcAft>
                <a:spcPts val="0"/>
              </a:spcAft>
              <a:buClr>
                <a:schemeClr val="accent1"/>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299720" algn="l" rtl="0">
              <a:spcBef>
                <a:spcPts val="1000"/>
              </a:spcBef>
              <a:spcAft>
                <a:spcPts val="0"/>
              </a:spcAft>
              <a:buClr>
                <a:schemeClr val="accent1"/>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endParaRPr/>
          </a:p>
        </p:txBody>
      </p:sp>
      <p:sp>
        <p:nvSpPr>
          <p:cNvPr id="18" name="Google Shape;18;p1"/>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1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9" name="Google Shape;19;p1"/>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1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20" name="Google Shape;20;p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marR="0" lvl="0" indent="0" algn="ctr" rtl="0">
              <a:spcBef>
                <a:spcPts val="0"/>
              </a:spcBef>
              <a:buNone/>
              <a:defRPr sz="2800" b="0" i="0" u="none" strike="noStrike" cap="none">
                <a:solidFill>
                  <a:schemeClr val="lt1"/>
                </a:solidFill>
                <a:latin typeface="Century Gothic"/>
                <a:ea typeface="Century Gothic"/>
                <a:cs typeface="Century Gothic"/>
                <a:sym typeface="Century Gothic"/>
              </a:defRPr>
            </a:lvl1pPr>
            <a:lvl2pPr marL="0" marR="0" lvl="1" indent="0" algn="ctr" rtl="0">
              <a:spcBef>
                <a:spcPts val="0"/>
              </a:spcBef>
              <a:buNone/>
              <a:defRPr sz="2800" b="0" i="0" u="none" strike="noStrike" cap="none">
                <a:solidFill>
                  <a:schemeClr val="lt1"/>
                </a:solidFill>
                <a:latin typeface="Century Gothic"/>
                <a:ea typeface="Century Gothic"/>
                <a:cs typeface="Century Gothic"/>
                <a:sym typeface="Century Gothic"/>
              </a:defRPr>
            </a:lvl2pPr>
            <a:lvl3pPr marL="0" marR="0" lvl="2" indent="0" algn="ctr" rtl="0">
              <a:spcBef>
                <a:spcPts val="0"/>
              </a:spcBef>
              <a:buNone/>
              <a:defRPr sz="2800" b="0" i="0" u="none" strike="noStrike" cap="none">
                <a:solidFill>
                  <a:schemeClr val="lt1"/>
                </a:solidFill>
                <a:latin typeface="Century Gothic"/>
                <a:ea typeface="Century Gothic"/>
                <a:cs typeface="Century Gothic"/>
                <a:sym typeface="Century Gothic"/>
              </a:defRPr>
            </a:lvl3pPr>
            <a:lvl4pPr marL="0" marR="0" lvl="3" indent="0" algn="ctr" rtl="0">
              <a:spcBef>
                <a:spcPts val="0"/>
              </a:spcBef>
              <a:buNone/>
              <a:defRPr sz="2800" b="0" i="0" u="none" strike="noStrike" cap="none">
                <a:solidFill>
                  <a:schemeClr val="lt1"/>
                </a:solidFill>
                <a:latin typeface="Century Gothic"/>
                <a:ea typeface="Century Gothic"/>
                <a:cs typeface="Century Gothic"/>
                <a:sym typeface="Century Gothic"/>
              </a:defRPr>
            </a:lvl4pPr>
            <a:lvl5pPr marL="0" marR="0" lvl="4" indent="0" algn="ctr" rtl="0">
              <a:spcBef>
                <a:spcPts val="0"/>
              </a:spcBef>
              <a:buNone/>
              <a:defRPr sz="2800" b="0" i="0" u="none" strike="noStrike" cap="none">
                <a:solidFill>
                  <a:schemeClr val="lt1"/>
                </a:solidFill>
                <a:latin typeface="Century Gothic"/>
                <a:ea typeface="Century Gothic"/>
                <a:cs typeface="Century Gothic"/>
                <a:sym typeface="Century Gothic"/>
              </a:defRPr>
            </a:lvl5pPr>
            <a:lvl6pPr marL="0" marR="0" lvl="5" indent="0" algn="ctr" rtl="0">
              <a:spcBef>
                <a:spcPts val="0"/>
              </a:spcBef>
              <a:buNone/>
              <a:defRPr sz="2800" b="0" i="0" u="none" strike="noStrike" cap="none">
                <a:solidFill>
                  <a:schemeClr val="lt1"/>
                </a:solidFill>
                <a:latin typeface="Century Gothic"/>
                <a:ea typeface="Century Gothic"/>
                <a:cs typeface="Century Gothic"/>
                <a:sym typeface="Century Gothic"/>
              </a:defRPr>
            </a:lvl6pPr>
            <a:lvl7pPr marL="0" marR="0" lvl="6" indent="0" algn="ctr" rtl="0">
              <a:spcBef>
                <a:spcPts val="0"/>
              </a:spcBef>
              <a:buNone/>
              <a:defRPr sz="2800" b="0" i="0" u="none" strike="noStrike" cap="none">
                <a:solidFill>
                  <a:schemeClr val="lt1"/>
                </a:solidFill>
                <a:latin typeface="Century Gothic"/>
                <a:ea typeface="Century Gothic"/>
                <a:cs typeface="Century Gothic"/>
                <a:sym typeface="Century Gothic"/>
              </a:defRPr>
            </a:lvl7pPr>
            <a:lvl8pPr marL="0" marR="0" lvl="7" indent="0" algn="ctr" rtl="0">
              <a:spcBef>
                <a:spcPts val="0"/>
              </a:spcBef>
              <a:buNone/>
              <a:defRPr sz="2800" b="0" i="0" u="none" strike="noStrike" cap="none">
                <a:solidFill>
                  <a:schemeClr val="lt1"/>
                </a:solidFill>
                <a:latin typeface="Century Gothic"/>
                <a:ea typeface="Century Gothic"/>
                <a:cs typeface="Century Gothic"/>
                <a:sym typeface="Century Gothic"/>
              </a:defRPr>
            </a:lvl8pPr>
            <a:lvl9pPr marL="0" marR="0" lvl="8" indent="0" algn="ctr" rtl="0">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1"/>
        <p:cNvGrpSpPr/>
        <p:nvPr/>
      </p:nvGrpSpPr>
      <p:grpSpPr>
        <a:xfrm>
          <a:off x="0" y="0"/>
          <a:ext cx="0" cy="0"/>
          <a:chOff x="0" y="0"/>
          <a:chExt cx="0" cy="0"/>
        </a:xfrm>
      </p:grpSpPr>
      <p:sp>
        <p:nvSpPr>
          <p:cNvPr id="152" name="Google Shape;152;p19"/>
          <p:cNvSpPr txBox="1"/>
          <p:nvPr/>
        </p:nvSpPr>
        <p:spPr>
          <a:xfrm>
            <a:off x="756534" y="5230684"/>
            <a:ext cx="10888800" cy="1385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dirty="0">
                <a:solidFill>
                  <a:schemeClr val="lt1"/>
                </a:solidFill>
                <a:latin typeface="Century Gothic"/>
                <a:ea typeface="Century Gothic"/>
                <a:cs typeface="Century Gothic"/>
                <a:sym typeface="Century Gothic"/>
              </a:rPr>
              <a:t>Title:</a:t>
            </a:r>
            <a:r>
              <a:rPr lang="en-US" sz="2800" b="0" i="0" u="none" strike="noStrike" cap="none" dirty="0">
                <a:solidFill>
                  <a:schemeClr val="lt1"/>
                </a:solidFill>
                <a:latin typeface="Century Gothic"/>
                <a:ea typeface="Century Gothic"/>
                <a:cs typeface="Century Gothic"/>
                <a:sym typeface="Century Gothic"/>
              </a:rPr>
              <a:t> </a:t>
            </a:r>
            <a:r>
              <a:rPr lang="en-US" sz="2400" b="0" i="0" u="none" strike="noStrike" cap="none" dirty="0">
                <a:solidFill>
                  <a:schemeClr val="lt1"/>
                </a:solidFill>
                <a:latin typeface="Century Gothic"/>
                <a:ea typeface="Century Gothic"/>
                <a:cs typeface="Century Gothic"/>
                <a:sym typeface="Century Gothic"/>
              </a:rPr>
              <a:t>IPL Strategy for RCB (Performance Analysis &amp; Auction Optimization)</a:t>
            </a:r>
            <a:endParaRPr dirty="0"/>
          </a:p>
          <a:p>
            <a:pPr marL="0" marR="0" lvl="0" indent="0" algn="l" rtl="0">
              <a:spcBef>
                <a:spcPts val="0"/>
              </a:spcBef>
              <a:spcAft>
                <a:spcPts val="0"/>
              </a:spcAft>
              <a:buNone/>
            </a:pPr>
            <a:r>
              <a:rPr lang="en-US" sz="2800" b="1" i="0" u="none" strike="noStrike" cap="none" dirty="0">
                <a:solidFill>
                  <a:schemeClr val="lt1"/>
                </a:solidFill>
                <a:latin typeface="Century Gothic"/>
                <a:ea typeface="Century Gothic"/>
                <a:cs typeface="Century Gothic"/>
                <a:sym typeface="Century Gothic"/>
              </a:rPr>
              <a:t>Prepared by:</a:t>
            </a:r>
            <a:r>
              <a:rPr lang="en-US" sz="2800" b="0" i="0" u="none" strike="noStrike" cap="none" dirty="0">
                <a:solidFill>
                  <a:schemeClr val="lt1"/>
                </a:solidFill>
                <a:latin typeface="Century Gothic"/>
                <a:ea typeface="Century Gothic"/>
                <a:cs typeface="Century Gothic"/>
                <a:sym typeface="Century Gothic"/>
              </a:rPr>
              <a:t> Bakkashetti Vamshi</a:t>
            </a:r>
            <a:br>
              <a:rPr lang="en-US" sz="2400" b="0" i="0" u="none" strike="noStrike" cap="none" dirty="0">
                <a:solidFill>
                  <a:schemeClr val="lt1"/>
                </a:solidFill>
                <a:latin typeface="Century Gothic"/>
                <a:ea typeface="Century Gothic"/>
                <a:cs typeface="Century Gothic"/>
                <a:sym typeface="Century Gothic"/>
              </a:rPr>
            </a:br>
            <a:r>
              <a:rPr lang="en-US" sz="2800" b="1" i="0" u="none" strike="noStrike" cap="none" dirty="0">
                <a:solidFill>
                  <a:schemeClr val="lt1"/>
                </a:solidFill>
                <a:latin typeface="Century Gothic"/>
                <a:ea typeface="Century Gothic"/>
                <a:cs typeface="Century Gothic"/>
                <a:sym typeface="Century Gothic"/>
              </a:rPr>
              <a:t>Batch: </a:t>
            </a:r>
            <a:r>
              <a:rPr lang="en-US" sz="2800" b="1" dirty="0">
                <a:solidFill>
                  <a:schemeClr val="lt1"/>
                </a:solidFill>
                <a:latin typeface="Century Gothic"/>
                <a:ea typeface="Century Gothic"/>
                <a:cs typeface="Century Gothic"/>
                <a:sym typeface="Century Gothic"/>
              </a:rPr>
              <a:t>December</a:t>
            </a:r>
            <a:r>
              <a:rPr lang="en-US" sz="2400" b="0" i="0" u="none" strike="noStrike" cap="none" dirty="0">
                <a:solidFill>
                  <a:schemeClr val="lt1"/>
                </a:solidFill>
                <a:latin typeface="Century Gothic"/>
                <a:ea typeface="Century Gothic"/>
                <a:cs typeface="Century Gothic"/>
                <a:sym typeface="Century Gothic"/>
              </a:rPr>
              <a:t> 2025</a:t>
            </a:r>
            <a:endParaRPr sz="2400" dirty="0">
              <a:solidFill>
                <a:schemeClr val="lt1"/>
              </a:solidFill>
              <a:latin typeface="Century Gothic"/>
              <a:ea typeface="Century Gothic"/>
              <a:cs typeface="Century Gothic"/>
              <a:sym typeface="Century Gothic"/>
            </a:endParaRPr>
          </a:p>
        </p:txBody>
      </p:sp>
      <p:pic>
        <p:nvPicPr>
          <p:cNvPr id="153" name="Google Shape;153;p19"/>
          <p:cNvPicPr preferRelativeResize="0"/>
          <p:nvPr/>
        </p:nvPicPr>
        <p:blipFill rotWithShape="1">
          <a:blip r:embed="rId4">
            <a:alphaModFix/>
          </a:blip>
          <a:srcRect/>
          <a:stretch/>
        </p:blipFill>
        <p:spPr>
          <a:xfrm>
            <a:off x="0" y="44216"/>
            <a:ext cx="2072871" cy="1163683"/>
          </a:xfrm>
          <a:prstGeom prst="rect">
            <a:avLst/>
          </a:prstGeom>
          <a:noFill/>
          <a:ln>
            <a:noFill/>
          </a:ln>
        </p:spPr>
      </p:pic>
      <p:pic>
        <p:nvPicPr>
          <p:cNvPr id="154" name="Google Shape;154;p19" title="maxresdefault.jpg"/>
          <p:cNvPicPr preferRelativeResize="0"/>
          <p:nvPr/>
        </p:nvPicPr>
        <p:blipFill>
          <a:blip r:embed="rId5">
            <a:alphaModFix/>
          </a:blip>
          <a:stretch>
            <a:fillRect/>
          </a:stretch>
        </p:blipFill>
        <p:spPr>
          <a:xfrm>
            <a:off x="653150" y="62700"/>
            <a:ext cx="10488701" cy="50155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8"/>
        <p:cNvGrpSpPr/>
        <p:nvPr/>
      </p:nvGrpSpPr>
      <p:grpSpPr>
        <a:xfrm>
          <a:off x="0" y="0"/>
          <a:ext cx="0" cy="0"/>
          <a:chOff x="0" y="0"/>
          <a:chExt cx="0" cy="0"/>
        </a:xfrm>
      </p:grpSpPr>
      <p:sp>
        <p:nvSpPr>
          <p:cNvPr id="159" name="Google Shape;159;p20"/>
          <p:cNvSpPr txBox="1"/>
          <p:nvPr/>
        </p:nvSpPr>
        <p:spPr>
          <a:xfrm>
            <a:off x="786876" y="1616260"/>
            <a:ext cx="6133375" cy="4893647"/>
          </a:xfrm>
          <a:prstGeom prst="rect">
            <a:avLst/>
          </a:prstGeom>
          <a:noFill/>
          <a:ln>
            <a:noFill/>
          </a:ln>
        </p:spPr>
        <p:txBody>
          <a:bodyPr spcFirstLastPara="1" wrap="square" lIns="91425" tIns="45700" rIns="91425" bIns="45700" anchor="t" anchorCtr="0">
            <a:spAutoFit/>
          </a:bodyPr>
          <a:lstStyle/>
          <a:p>
            <a:pPr marL="0" marR="0" lvl="0" indent="-152400" algn="l" rtl="0">
              <a:spcBef>
                <a:spcPts val="0"/>
              </a:spcBef>
              <a:spcAft>
                <a:spcPts val="0"/>
              </a:spcAft>
              <a:buClr>
                <a:schemeClr val="lt1"/>
              </a:buClr>
              <a:buSzPts val="2400"/>
              <a:buFont typeface="Arial"/>
              <a:buChar char="•"/>
            </a:pPr>
            <a:r>
              <a:rPr lang="en-US" sz="2400">
                <a:solidFill>
                  <a:schemeClr val="lt1"/>
                </a:solidFill>
                <a:latin typeface="Algerian"/>
                <a:ea typeface="Algerian"/>
                <a:cs typeface="Algerian"/>
                <a:sym typeface="Algerian"/>
              </a:rPr>
              <a:t>Introduction</a:t>
            </a:r>
            <a:endParaRPr/>
          </a:p>
          <a:p>
            <a:pPr marL="0" marR="0" lvl="0" indent="0" algn="l" rtl="0">
              <a:spcBef>
                <a:spcPts val="0"/>
              </a:spcBef>
              <a:spcAft>
                <a:spcPts val="0"/>
              </a:spcAft>
              <a:buClr>
                <a:schemeClr val="lt1"/>
              </a:buClr>
              <a:buSzPts val="2400"/>
              <a:buFont typeface="Arial"/>
              <a:buNone/>
            </a:pPr>
            <a:endParaRPr sz="2400">
              <a:solidFill>
                <a:schemeClr val="lt1"/>
              </a:solidFill>
              <a:latin typeface="Algerian"/>
              <a:ea typeface="Algerian"/>
              <a:cs typeface="Algerian"/>
              <a:sym typeface="Algerian"/>
            </a:endParaRPr>
          </a:p>
          <a:p>
            <a:pPr marL="0" marR="0" lvl="0" indent="-152400" algn="l" rtl="0">
              <a:spcBef>
                <a:spcPts val="0"/>
              </a:spcBef>
              <a:spcAft>
                <a:spcPts val="0"/>
              </a:spcAft>
              <a:buClr>
                <a:schemeClr val="lt1"/>
              </a:buClr>
              <a:buSzPts val="2400"/>
              <a:buFont typeface="Arial"/>
              <a:buChar char="•"/>
            </a:pPr>
            <a:r>
              <a:rPr lang="en-US" sz="2400">
                <a:solidFill>
                  <a:schemeClr val="lt1"/>
                </a:solidFill>
                <a:latin typeface="Algerian"/>
                <a:ea typeface="Algerian"/>
                <a:cs typeface="Algerian"/>
                <a:sym typeface="Algerian"/>
              </a:rPr>
              <a:t>Objectives with Problem Statement</a:t>
            </a:r>
            <a:endParaRPr/>
          </a:p>
          <a:p>
            <a:pPr marL="0" marR="0" lvl="0" indent="0" algn="l" rtl="0">
              <a:spcBef>
                <a:spcPts val="0"/>
              </a:spcBef>
              <a:spcAft>
                <a:spcPts val="0"/>
              </a:spcAft>
              <a:buClr>
                <a:schemeClr val="lt1"/>
              </a:buClr>
              <a:buSzPts val="2400"/>
              <a:buFont typeface="Arial"/>
              <a:buNone/>
            </a:pPr>
            <a:endParaRPr sz="2400">
              <a:solidFill>
                <a:schemeClr val="lt1"/>
              </a:solidFill>
              <a:latin typeface="Algerian"/>
              <a:ea typeface="Algerian"/>
              <a:cs typeface="Algerian"/>
              <a:sym typeface="Algerian"/>
            </a:endParaRPr>
          </a:p>
          <a:p>
            <a:pPr marL="0" marR="0" lvl="0" indent="-152400" algn="l" rtl="0">
              <a:spcBef>
                <a:spcPts val="0"/>
              </a:spcBef>
              <a:spcAft>
                <a:spcPts val="0"/>
              </a:spcAft>
              <a:buClr>
                <a:schemeClr val="lt1"/>
              </a:buClr>
              <a:buSzPts val="2400"/>
              <a:buFont typeface="Arial"/>
              <a:buChar char="•"/>
            </a:pPr>
            <a:r>
              <a:rPr lang="en-US" sz="2400">
                <a:solidFill>
                  <a:schemeClr val="lt1"/>
                </a:solidFill>
                <a:latin typeface="Algerian"/>
                <a:ea typeface="Algerian"/>
                <a:cs typeface="Algerian"/>
                <a:sym typeface="Algerian"/>
              </a:rPr>
              <a:t>Data Overview</a:t>
            </a:r>
            <a:endParaRPr/>
          </a:p>
          <a:p>
            <a:pPr marL="0" marR="0" lvl="0" indent="0" algn="l" rtl="0">
              <a:spcBef>
                <a:spcPts val="0"/>
              </a:spcBef>
              <a:spcAft>
                <a:spcPts val="0"/>
              </a:spcAft>
              <a:buClr>
                <a:schemeClr val="lt1"/>
              </a:buClr>
              <a:buSzPts val="2400"/>
              <a:buFont typeface="Arial"/>
              <a:buNone/>
            </a:pPr>
            <a:endParaRPr sz="2400">
              <a:solidFill>
                <a:schemeClr val="lt1"/>
              </a:solidFill>
              <a:latin typeface="Algerian"/>
              <a:ea typeface="Algerian"/>
              <a:cs typeface="Algerian"/>
              <a:sym typeface="Algerian"/>
            </a:endParaRPr>
          </a:p>
          <a:p>
            <a:pPr marL="0" marR="0" lvl="0" indent="-152400" algn="l" rtl="0">
              <a:spcBef>
                <a:spcPts val="0"/>
              </a:spcBef>
              <a:spcAft>
                <a:spcPts val="0"/>
              </a:spcAft>
              <a:buClr>
                <a:schemeClr val="lt1"/>
              </a:buClr>
              <a:buSzPts val="2400"/>
              <a:buFont typeface="Arial"/>
              <a:buChar char="•"/>
            </a:pPr>
            <a:r>
              <a:rPr lang="en-US" sz="2400">
                <a:solidFill>
                  <a:schemeClr val="lt1"/>
                </a:solidFill>
                <a:latin typeface="Algerian"/>
                <a:ea typeface="Algerian"/>
                <a:cs typeface="Algerian"/>
                <a:sym typeface="Algerian"/>
              </a:rPr>
              <a:t>Methodology</a:t>
            </a:r>
            <a:endParaRPr/>
          </a:p>
          <a:p>
            <a:pPr marL="0" marR="0" lvl="0" indent="0" algn="l" rtl="0">
              <a:spcBef>
                <a:spcPts val="0"/>
              </a:spcBef>
              <a:spcAft>
                <a:spcPts val="0"/>
              </a:spcAft>
              <a:buClr>
                <a:schemeClr val="lt1"/>
              </a:buClr>
              <a:buSzPts val="2400"/>
              <a:buFont typeface="Arial"/>
              <a:buNone/>
            </a:pPr>
            <a:endParaRPr sz="2400">
              <a:solidFill>
                <a:schemeClr val="lt1"/>
              </a:solidFill>
              <a:latin typeface="Algerian"/>
              <a:ea typeface="Algerian"/>
              <a:cs typeface="Algerian"/>
              <a:sym typeface="Algerian"/>
            </a:endParaRPr>
          </a:p>
          <a:p>
            <a:pPr marL="0" marR="0" lvl="0" indent="-152400" algn="l" rtl="0">
              <a:spcBef>
                <a:spcPts val="0"/>
              </a:spcBef>
              <a:spcAft>
                <a:spcPts val="0"/>
              </a:spcAft>
              <a:buClr>
                <a:schemeClr val="lt1"/>
              </a:buClr>
              <a:buSzPts val="2400"/>
              <a:buFont typeface="Arial"/>
              <a:buChar char="•"/>
            </a:pPr>
            <a:r>
              <a:rPr lang="en-US" sz="2400">
                <a:solidFill>
                  <a:schemeClr val="lt1"/>
                </a:solidFill>
                <a:latin typeface="Algerian"/>
                <a:ea typeface="Algerian"/>
                <a:cs typeface="Algerian"/>
                <a:sym typeface="Algerian"/>
              </a:rPr>
              <a:t>Analysis &amp; Key finding</a:t>
            </a:r>
            <a:endParaRPr/>
          </a:p>
          <a:p>
            <a:pPr marL="0" marR="0" lvl="0" indent="0" algn="l" rtl="0">
              <a:spcBef>
                <a:spcPts val="0"/>
              </a:spcBef>
              <a:spcAft>
                <a:spcPts val="0"/>
              </a:spcAft>
              <a:buClr>
                <a:schemeClr val="lt1"/>
              </a:buClr>
              <a:buSzPts val="2400"/>
              <a:buFont typeface="Arial"/>
              <a:buNone/>
            </a:pPr>
            <a:endParaRPr sz="2400">
              <a:solidFill>
                <a:schemeClr val="lt1"/>
              </a:solidFill>
              <a:latin typeface="Algerian"/>
              <a:ea typeface="Algerian"/>
              <a:cs typeface="Algerian"/>
              <a:sym typeface="Algerian"/>
            </a:endParaRPr>
          </a:p>
          <a:p>
            <a:pPr marL="0" marR="0" lvl="0" indent="-152400" algn="l" rtl="0">
              <a:spcBef>
                <a:spcPts val="0"/>
              </a:spcBef>
              <a:spcAft>
                <a:spcPts val="0"/>
              </a:spcAft>
              <a:buClr>
                <a:schemeClr val="lt1"/>
              </a:buClr>
              <a:buSzPts val="2400"/>
              <a:buFont typeface="Arial"/>
              <a:buChar char="•"/>
            </a:pPr>
            <a:r>
              <a:rPr lang="en-US" sz="2400">
                <a:solidFill>
                  <a:schemeClr val="lt1"/>
                </a:solidFill>
                <a:latin typeface="Algerian"/>
                <a:ea typeface="Algerian"/>
                <a:cs typeface="Algerian"/>
                <a:sym typeface="Algerian"/>
              </a:rPr>
              <a:t>Strategic Recommendations</a:t>
            </a:r>
            <a:endParaRPr/>
          </a:p>
          <a:p>
            <a:pPr marL="0" marR="0" lvl="0" indent="0" algn="l" rtl="0">
              <a:spcBef>
                <a:spcPts val="0"/>
              </a:spcBef>
              <a:spcAft>
                <a:spcPts val="0"/>
              </a:spcAft>
              <a:buClr>
                <a:schemeClr val="lt1"/>
              </a:buClr>
              <a:buSzPts val="2400"/>
              <a:buFont typeface="Arial"/>
              <a:buNone/>
            </a:pPr>
            <a:endParaRPr sz="2400">
              <a:solidFill>
                <a:schemeClr val="lt1"/>
              </a:solidFill>
              <a:latin typeface="Algerian"/>
              <a:ea typeface="Algerian"/>
              <a:cs typeface="Algerian"/>
              <a:sym typeface="Algerian"/>
            </a:endParaRPr>
          </a:p>
          <a:p>
            <a:pPr marL="0" marR="0" lvl="0" indent="-152400" algn="l" rtl="0">
              <a:spcBef>
                <a:spcPts val="0"/>
              </a:spcBef>
              <a:spcAft>
                <a:spcPts val="0"/>
              </a:spcAft>
              <a:buClr>
                <a:schemeClr val="lt1"/>
              </a:buClr>
              <a:buSzPts val="2400"/>
              <a:buFont typeface="Arial"/>
              <a:buChar char="•"/>
            </a:pPr>
            <a:r>
              <a:rPr lang="en-US" sz="2400">
                <a:solidFill>
                  <a:schemeClr val="lt1"/>
                </a:solidFill>
                <a:latin typeface="Algerian"/>
                <a:ea typeface="Algerian"/>
                <a:cs typeface="Algerian"/>
                <a:sym typeface="Algerian"/>
              </a:rPr>
              <a:t>Conclusion</a:t>
            </a:r>
            <a:endParaRPr/>
          </a:p>
        </p:txBody>
      </p:sp>
      <p:sp>
        <p:nvSpPr>
          <p:cNvPr id="160" name="Google Shape;160;p20"/>
          <p:cNvSpPr txBox="1"/>
          <p:nvPr/>
        </p:nvSpPr>
        <p:spPr>
          <a:xfrm>
            <a:off x="2326338" y="251926"/>
            <a:ext cx="6808236"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chemeClr val="lt1"/>
                </a:solidFill>
                <a:latin typeface="Algerian"/>
                <a:ea typeface="Algerian"/>
                <a:cs typeface="Algerian"/>
                <a:sym typeface="Algerian"/>
              </a:rPr>
              <a:t>Content Overview</a:t>
            </a:r>
            <a:endParaRPr/>
          </a:p>
        </p:txBody>
      </p:sp>
      <p:pic>
        <p:nvPicPr>
          <p:cNvPr id="161" name="Google Shape;161;p20"/>
          <p:cNvPicPr preferRelativeResize="0"/>
          <p:nvPr/>
        </p:nvPicPr>
        <p:blipFill rotWithShape="1">
          <a:blip r:embed="rId4">
            <a:alphaModFix/>
          </a:blip>
          <a:srcRect/>
          <a:stretch/>
        </p:blipFill>
        <p:spPr>
          <a:xfrm>
            <a:off x="0" y="44216"/>
            <a:ext cx="2072871" cy="11636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5"/>
        <p:cNvGrpSpPr/>
        <p:nvPr/>
      </p:nvGrpSpPr>
      <p:grpSpPr>
        <a:xfrm>
          <a:off x="0" y="0"/>
          <a:ext cx="0" cy="0"/>
          <a:chOff x="0" y="0"/>
          <a:chExt cx="0" cy="0"/>
        </a:xfrm>
      </p:grpSpPr>
      <p:sp>
        <p:nvSpPr>
          <p:cNvPr id="166" name="Google Shape;166;p21"/>
          <p:cNvSpPr txBox="1"/>
          <p:nvPr/>
        </p:nvSpPr>
        <p:spPr>
          <a:xfrm>
            <a:off x="541176" y="1698536"/>
            <a:ext cx="11262000" cy="4462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lt1"/>
                </a:solidFill>
                <a:latin typeface="Century Gothic"/>
                <a:ea typeface="Century Gothic"/>
                <a:cs typeface="Century Gothic"/>
                <a:sym typeface="Century Gothic"/>
              </a:rPr>
              <a:t>The Royal Challengers Bangalore (RCB) has been a competitive franchise in the IPL. Our analysis focuses on understanding the team's past performance, identifying key players, and optimizing strategies for better results in upcoming seasons. This data-driven approach will guide our insights to enhance team performance and capitalize on strengths.</a:t>
            </a:r>
            <a:endParaRPr/>
          </a:p>
          <a:p>
            <a:pPr marL="0" marR="0" lvl="0" indent="0" algn="l" rtl="0">
              <a:spcBef>
                <a:spcPts val="0"/>
              </a:spcBef>
              <a:spcAft>
                <a:spcPts val="0"/>
              </a:spcAft>
              <a:buNone/>
            </a:pPr>
            <a:endParaRPr sz="20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2400" b="1">
                <a:solidFill>
                  <a:schemeClr val="lt1"/>
                </a:solidFill>
                <a:latin typeface="Century Gothic"/>
                <a:ea typeface="Century Gothic"/>
                <a:cs typeface="Century Gothic"/>
                <a:sym typeface="Century Gothic"/>
              </a:rPr>
              <a:t>Key Focus Areas:</a:t>
            </a:r>
            <a:endParaRPr sz="2400">
              <a:solidFill>
                <a:schemeClr val="lt1"/>
              </a:solidFill>
              <a:latin typeface="Century Gothic"/>
              <a:ea typeface="Century Gothic"/>
              <a:cs typeface="Century Gothic"/>
              <a:sym typeface="Century Gothic"/>
            </a:endParaRPr>
          </a:p>
          <a:p>
            <a:pPr marL="742950" marR="0" lvl="1" indent="-285750" algn="l" rtl="0">
              <a:spcBef>
                <a:spcPts val="0"/>
              </a:spcBef>
              <a:spcAft>
                <a:spcPts val="0"/>
              </a:spcAft>
              <a:buClr>
                <a:schemeClr val="lt1"/>
              </a:buClr>
              <a:buSzPts val="2000"/>
              <a:buFont typeface="Arial"/>
              <a:buChar char="•"/>
            </a:pPr>
            <a:r>
              <a:rPr lang="en-US" sz="2000" b="0" i="0" u="none" strike="noStrike" cap="none">
                <a:solidFill>
                  <a:schemeClr val="lt1"/>
                </a:solidFill>
                <a:latin typeface="Century Gothic"/>
                <a:ea typeface="Century Gothic"/>
                <a:cs typeface="Century Gothic"/>
                <a:sym typeface="Century Gothic"/>
              </a:rPr>
              <a:t>Performance analysis across multiple IPL seasons.</a:t>
            </a:r>
            <a:endParaRPr/>
          </a:p>
          <a:p>
            <a:pPr marL="742950" marR="0" lvl="1" indent="-158750" algn="l" rtl="0">
              <a:spcBef>
                <a:spcPts val="0"/>
              </a:spcBef>
              <a:spcAft>
                <a:spcPts val="0"/>
              </a:spcAft>
              <a:buClr>
                <a:schemeClr val="lt1"/>
              </a:buClr>
              <a:buSzPts val="2000"/>
              <a:buFont typeface="Arial"/>
              <a:buNone/>
            </a:pPr>
            <a:endParaRPr sz="2000" b="0" i="0" u="none" strike="noStrike" cap="none">
              <a:solidFill>
                <a:schemeClr val="lt1"/>
              </a:solidFill>
              <a:latin typeface="Century Gothic"/>
              <a:ea typeface="Century Gothic"/>
              <a:cs typeface="Century Gothic"/>
              <a:sym typeface="Century Gothic"/>
            </a:endParaRPr>
          </a:p>
          <a:p>
            <a:pPr marL="742950" marR="0" lvl="1" indent="-285750" algn="l" rtl="0">
              <a:spcBef>
                <a:spcPts val="0"/>
              </a:spcBef>
              <a:spcAft>
                <a:spcPts val="0"/>
              </a:spcAft>
              <a:buClr>
                <a:schemeClr val="lt1"/>
              </a:buClr>
              <a:buSzPts val="2000"/>
              <a:buFont typeface="Arial"/>
              <a:buChar char="•"/>
            </a:pPr>
            <a:r>
              <a:rPr lang="en-US" sz="2000" b="0" i="0" u="none" strike="noStrike" cap="none">
                <a:solidFill>
                  <a:schemeClr val="lt1"/>
                </a:solidFill>
                <a:latin typeface="Century Gothic"/>
                <a:ea typeface="Century Gothic"/>
                <a:cs typeface="Century Gothic"/>
                <a:sym typeface="Century Gothic"/>
              </a:rPr>
              <a:t>Identifying high-performing players based on both batting and bowling metrics.</a:t>
            </a:r>
            <a:endParaRPr/>
          </a:p>
          <a:p>
            <a:pPr marL="742950" marR="0" lvl="1" indent="-158750" algn="l" rtl="0">
              <a:spcBef>
                <a:spcPts val="0"/>
              </a:spcBef>
              <a:spcAft>
                <a:spcPts val="0"/>
              </a:spcAft>
              <a:buClr>
                <a:schemeClr val="lt1"/>
              </a:buClr>
              <a:buSzPts val="2000"/>
              <a:buFont typeface="Arial"/>
              <a:buNone/>
            </a:pPr>
            <a:endParaRPr sz="2000" b="0" i="0" u="none" strike="noStrike" cap="none">
              <a:solidFill>
                <a:schemeClr val="lt1"/>
              </a:solidFill>
              <a:latin typeface="Century Gothic"/>
              <a:ea typeface="Century Gothic"/>
              <a:cs typeface="Century Gothic"/>
              <a:sym typeface="Century Gothic"/>
            </a:endParaRPr>
          </a:p>
          <a:p>
            <a:pPr marL="742950" marR="0" lvl="1" indent="-285750" algn="l" rtl="0">
              <a:spcBef>
                <a:spcPts val="0"/>
              </a:spcBef>
              <a:spcAft>
                <a:spcPts val="0"/>
              </a:spcAft>
              <a:buClr>
                <a:schemeClr val="lt1"/>
              </a:buClr>
              <a:buSzPts val="2000"/>
              <a:buFont typeface="Arial"/>
              <a:buChar char="•"/>
            </a:pPr>
            <a:r>
              <a:rPr lang="en-US" sz="2000" b="0" i="0" u="none" strike="noStrike" cap="none">
                <a:solidFill>
                  <a:schemeClr val="lt1"/>
                </a:solidFill>
                <a:latin typeface="Century Gothic"/>
                <a:ea typeface="Century Gothic"/>
                <a:cs typeface="Century Gothic"/>
                <a:sym typeface="Century Gothic"/>
              </a:rPr>
              <a:t>Analyzing home ground advantage and key matches.</a:t>
            </a:r>
            <a:endParaRPr/>
          </a:p>
          <a:p>
            <a:pPr marL="742950" marR="0" lvl="1" indent="-158750" algn="l" rtl="0">
              <a:spcBef>
                <a:spcPts val="0"/>
              </a:spcBef>
              <a:spcAft>
                <a:spcPts val="0"/>
              </a:spcAft>
              <a:buClr>
                <a:schemeClr val="lt1"/>
              </a:buClr>
              <a:buSzPts val="2000"/>
              <a:buFont typeface="Arial"/>
              <a:buNone/>
            </a:pPr>
            <a:endParaRPr sz="2000" b="0" i="0" u="none" strike="noStrike" cap="none">
              <a:solidFill>
                <a:schemeClr val="lt1"/>
              </a:solidFill>
              <a:latin typeface="Century Gothic"/>
              <a:ea typeface="Century Gothic"/>
              <a:cs typeface="Century Gothic"/>
              <a:sym typeface="Century Gothic"/>
            </a:endParaRPr>
          </a:p>
          <a:p>
            <a:pPr marL="742950" marR="0" lvl="1" indent="-285750" algn="l" rtl="0">
              <a:spcBef>
                <a:spcPts val="0"/>
              </a:spcBef>
              <a:spcAft>
                <a:spcPts val="0"/>
              </a:spcAft>
              <a:buClr>
                <a:schemeClr val="lt1"/>
              </a:buClr>
              <a:buSzPts val="2000"/>
              <a:buFont typeface="Arial"/>
              <a:buChar char="•"/>
            </a:pPr>
            <a:r>
              <a:rPr lang="en-US" sz="2000" b="0" i="0" u="none" strike="noStrike" cap="none">
                <a:solidFill>
                  <a:schemeClr val="lt1"/>
                </a:solidFill>
                <a:latin typeface="Century Gothic"/>
                <a:ea typeface="Century Gothic"/>
                <a:cs typeface="Century Gothic"/>
                <a:sym typeface="Century Gothic"/>
              </a:rPr>
              <a:t>Offering strategic recommendations based on the data.</a:t>
            </a:r>
            <a:endParaRPr/>
          </a:p>
        </p:txBody>
      </p:sp>
      <p:pic>
        <p:nvPicPr>
          <p:cNvPr id="167" name="Google Shape;167;p21"/>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168" name="Google Shape;168;p21"/>
          <p:cNvSpPr/>
          <p:nvPr/>
        </p:nvSpPr>
        <p:spPr>
          <a:xfrm>
            <a:off x="2841275" y="278639"/>
            <a:ext cx="500888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a:solidFill>
                  <a:schemeClr val="lt1"/>
                </a:solidFill>
                <a:latin typeface="Algerian"/>
                <a:ea typeface="Algerian"/>
                <a:cs typeface="Algerian"/>
                <a:sym typeface="Algerian"/>
              </a:rPr>
              <a:t>Introduction</a:t>
            </a:r>
            <a:endParaRPr sz="3600">
              <a:solidFill>
                <a:schemeClr val="lt1"/>
              </a:solidFill>
              <a:latin typeface="Algerian"/>
              <a:ea typeface="Algerian"/>
              <a:cs typeface="Algerian"/>
              <a:sym typeface="Algeri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2"/>
        <p:cNvGrpSpPr/>
        <p:nvPr/>
      </p:nvGrpSpPr>
      <p:grpSpPr>
        <a:xfrm>
          <a:off x="0" y="0"/>
          <a:ext cx="0" cy="0"/>
          <a:chOff x="0" y="0"/>
          <a:chExt cx="0" cy="0"/>
        </a:xfrm>
      </p:grpSpPr>
      <p:sp>
        <p:nvSpPr>
          <p:cNvPr id="173" name="Google Shape;173;p22"/>
          <p:cNvSpPr/>
          <p:nvPr/>
        </p:nvSpPr>
        <p:spPr>
          <a:xfrm>
            <a:off x="1401290" y="293499"/>
            <a:ext cx="8808098"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a:solidFill>
                  <a:schemeClr val="lt1"/>
                </a:solidFill>
                <a:latin typeface="Algerian"/>
                <a:ea typeface="Algerian"/>
                <a:cs typeface="Algerian"/>
                <a:sym typeface="Algerian"/>
              </a:rPr>
              <a:t>Objectives</a:t>
            </a:r>
            <a:endParaRPr/>
          </a:p>
        </p:txBody>
      </p:sp>
      <p:pic>
        <p:nvPicPr>
          <p:cNvPr id="174" name="Google Shape;174;p22"/>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175" name="Google Shape;175;p22"/>
          <p:cNvSpPr txBox="1"/>
          <p:nvPr/>
        </p:nvSpPr>
        <p:spPr>
          <a:xfrm>
            <a:off x="693198" y="1980170"/>
            <a:ext cx="11044335" cy="4154984"/>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lt1"/>
              </a:buClr>
              <a:buSzPts val="2400"/>
              <a:buFont typeface="Arial"/>
              <a:buChar char="•"/>
            </a:pPr>
            <a:r>
              <a:rPr lang="en-US" sz="2400">
                <a:solidFill>
                  <a:schemeClr val="lt1"/>
                </a:solidFill>
                <a:latin typeface="Century Gothic"/>
                <a:ea typeface="Century Gothic"/>
                <a:cs typeface="Century Gothic"/>
                <a:sym typeface="Century Gothic"/>
              </a:rPr>
              <a:t>To analyze past RCB performance and identify contributing factors.</a:t>
            </a:r>
            <a:endParaRPr/>
          </a:p>
          <a:p>
            <a:pPr marL="342900" marR="0" lvl="0" indent="-190500" algn="l" rtl="0">
              <a:spcBef>
                <a:spcPts val="0"/>
              </a:spcBef>
              <a:spcAft>
                <a:spcPts val="0"/>
              </a:spcAft>
              <a:buClr>
                <a:schemeClr val="lt1"/>
              </a:buClr>
              <a:buSzPts val="2400"/>
              <a:buFont typeface="Arial"/>
              <a:buNone/>
            </a:pPr>
            <a:endParaRPr sz="2400">
              <a:solidFill>
                <a:schemeClr val="lt1"/>
              </a:solidFill>
              <a:latin typeface="Century Gothic"/>
              <a:ea typeface="Century Gothic"/>
              <a:cs typeface="Century Gothic"/>
              <a:sym typeface="Century Gothic"/>
            </a:endParaRPr>
          </a:p>
          <a:p>
            <a:pPr marL="342900" marR="0" lvl="0" indent="-342900" algn="l" rtl="0">
              <a:spcBef>
                <a:spcPts val="0"/>
              </a:spcBef>
              <a:spcAft>
                <a:spcPts val="0"/>
              </a:spcAft>
              <a:buClr>
                <a:schemeClr val="lt1"/>
              </a:buClr>
              <a:buSzPts val="2400"/>
              <a:buFont typeface="Arial"/>
              <a:buChar char="•"/>
            </a:pPr>
            <a:r>
              <a:rPr lang="en-US" sz="2400">
                <a:solidFill>
                  <a:schemeClr val="lt1"/>
                </a:solidFill>
                <a:latin typeface="Century Gothic"/>
                <a:ea typeface="Century Gothic"/>
                <a:cs typeface="Century Gothic"/>
                <a:sym typeface="Century Gothic"/>
              </a:rPr>
              <a:t>To evaluate top-performing players based on batting, bowling, and versatility.</a:t>
            </a:r>
            <a:endParaRPr/>
          </a:p>
          <a:p>
            <a:pPr marL="342900" marR="0" lvl="0" indent="-190500" algn="l" rtl="0">
              <a:spcBef>
                <a:spcPts val="0"/>
              </a:spcBef>
              <a:spcAft>
                <a:spcPts val="0"/>
              </a:spcAft>
              <a:buClr>
                <a:schemeClr val="lt1"/>
              </a:buClr>
              <a:buSzPts val="2400"/>
              <a:buFont typeface="Arial"/>
              <a:buNone/>
            </a:pPr>
            <a:endParaRPr sz="2400">
              <a:solidFill>
                <a:schemeClr val="lt1"/>
              </a:solidFill>
              <a:latin typeface="Century Gothic"/>
              <a:ea typeface="Century Gothic"/>
              <a:cs typeface="Century Gothic"/>
              <a:sym typeface="Century Gothic"/>
            </a:endParaRPr>
          </a:p>
          <a:p>
            <a:pPr marL="342900" marR="0" lvl="0" indent="-342900" algn="l" rtl="0">
              <a:spcBef>
                <a:spcPts val="0"/>
              </a:spcBef>
              <a:spcAft>
                <a:spcPts val="0"/>
              </a:spcAft>
              <a:buClr>
                <a:schemeClr val="lt1"/>
              </a:buClr>
              <a:buSzPts val="2400"/>
              <a:buFont typeface="Arial"/>
              <a:buChar char="•"/>
            </a:pPr>
            <a:r>
              <a:rPr lang="en-US" sz="2400">
                <a:solidFill>
                  <a:schemeClr val="lt1"/>
                </a:solidFill>
                <a:latin typeface="Century Gothic"/>
                <a:ea typeface="Century Gothic"/>
                <a:cs typeface="Century Gothic"/>
                <a:sym typeface="Century Gothic"/>
              </a:rPr>
              <a:t>To study the impact of home ground advantage on team performance.</a:t>
            </a:r>
            <a:endParaRPr/>
          </a:p>
          <a:p>
            <a:pPr marL="342900" marR="0" lvl="0" indent="-190500" algn="l" rtl="0">
              <a:spcBef>
                <a:spcPts val="0"/>
              </a:spcBef>
              <a:spcAft>
                <a:spcPts val="0"/>
              </a:spcAft>
              <a:buClr>
                <a:schemeClr val="lt1"/>
              </a:buClr>
              <a:buSzPts val="2400"/>
              <a:buFont typeface="Arial"/>
              <a:buNone/>
            </a:pPr>
            <a:endParaRPr sz="2400">
              <a:solidFill>
                <a:schemeClr val="lt1"/>
              </a:solidFill>
              <a:latin typeface="Century Gothic"/>
              <a:ea typeface="Century Gothic"/>
              <a:cs typeface="Century Gothic"/>
              <a:sym typeface="Century Gothic"/>
            </a:endParaRPr>
          </a:p>
          <a:p>
            <a:pPr marL="342900" marR="0" lvl="0" indent="-342900" algn="l" rtl="0">
              <a:spcBef>
                <a:spcPts val="0"/>
              </a:spcBef>
              <a:spcAft>
                <a:spcPts val="0"/>
              </a:spcAft>
              <a:buClr>
                <a:schemeClr val="lt1"/>
              </a:buClr>
              <a:buSzPts val="2400"/>
              <a:buFont typeface="Arial"/>
              <a:buChar char="•"/>
            </a:pPr>
            <a:r>
              <a:rPr lang="en-US" sz="2400">
                <a:solidFill>
                  <a:schemeClr val="lt1"/>
                </a:solidFill>
                <a:latin typeface="Century Gothic"/>
                <a:ea typeface="Century Gothic"/>
                <a:cs typeface="Century Gothic"/>
                <a:sym typeface="Century Gothic"/>
              </a:rPr>
              <a:t>To provide actionable strategies and recommendations to strengthen RCB’s approach.</a:t>
            </a:r>
            <a:endParaRPr/>
          </a:p>
          <a:p>
            <a:pPr marL="342900" marR="0" lvl="0" indent="-190500" algn="l" rtl="0">
              <a:spcBef>
                <a:spcPts val="0"/>
              </a:spcBef>
              <a:spcAft>
                <a:spcPts val="0"/>
              </a:spcAft>
              <a:buClr>
                <a:schemeClr val="lt1"/>
              </a:buClr>
              <a:buSzPts val="2400"/>
              <a:buFont typeface="Arial"/>
              <a:buNone/>
            </a:pPr>
            <a:endParaRPr sz="240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
        <p:cNvGrpSpPr/>
        <p:nvPr/>
      </p:nvGrpSpPr>
      <p:grpSpPr>
        <a:xfrm>
          <a:off x="0" y="0"/>
          <a:ext cx="0" cy="0"/>
          <a:chOff x="0" y="0"/>
          <a:chExt cx="0" cy="0"/>
        </a:xfrm>
      </p:grpSpPr>
      <p:sp>
        <p:nvSpPr>
          <p:cNvPr id="180" name="Google Shape;180;p23"/>
          <p:cNvSpPr/>
          <p:nvPr/>
        </p:nvSpPr>
        <p:spPr>
          <a:xfrm>
            <a:off x="1382817" y="534405"/>
            <a:ext cx="8808098"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a:solidFill>
                  <a:schemeClr val="lt1"/>
                </a:solidFill>
                <a:latin typeface="Algerian"/>
                <a:ea typeface="Algerian"/>
                <a:cs typeface="Algerian"/>
                <a:sym typeface="Algerian"/>
              </a:rPr>
              <a:t>Problem Statement</a:t>
            </a:r>
            <a:endParaRPr/>
          </a:p>
        </p:txBody>
      </p:sp>
      <p:pic>
        <p:nvPicPr>
          <p:cNvPr id="181" name="Google Shape;181;p23"/>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182" name="Google Shape;182;p23"/>
          <p:cNvSpPr txBox="1"/>
          <p:nvPr/>
        </p:nvSpPr>
        <p:spPr>
          <a:xfrm>
            <a:off x="914400" y="2571296"/>
            <a:ext cx="10455564" cy="3046988"/>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lt1"/>
              </a:buClr>
              <a:buSzPts val="2400"/>
              <a:buFont typeface="Arial"/>
              <a:buChar char="•"/>
            </a:pPr>
            <a:r>
              <a:rPr lang="en-US" sz="2400">
                <a:solidFill>
                  <a:schemeClr val="lt1"/>
                </a:solidFill>
                <a:latin typeface="Century Gothic"/>
                <a:ea typeface="Century Gothic"/>
                <a:cs typeface="Century Gothic"/>
                <a:sym typeface="Century Gothic"/>
              </a:rPr>
              <a:t>RCB is aiming to improve its performance in the IPL and is seeking a comprehensive analysis to identify key players who can contribute effectively to the team’s success. The team wants to focus on the players who perform well consistently, especially those excelling in both batting and bowling. Additionally, understanding team dynamics, home ground advantage, and factors affecting high-scoring matches are crucial for crafting a winning strategy.</a:t>
            </a:r>
            <a:endParaRPr/>
          </a:p>
          <a:p>
            <a:pPr marL="0" marR="0" lvl="0" indent="0" algn="l" rtl="0">
              <a:spcBef>
                <a:spcPts val="0"/>
              </a:spcBef>
              <a:spcAft>
                <a:spcPts val="0"/>
              </a:spcAft>
              <a:buClr>
                <a:schemeClr val="lt1"/>
              </a:buClr>
              <a:buSzPts val="2400"/>
              <a:buFont typeface="Arial"/>
              <a:buNone/>
            </a:pPr>
            <a:endParaRPr sz="2400">
              <a:solidFill>
                <a:schemeClr val="lt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7"/>
        <p:cNvGrpSpPr/>
        <p:nvPr/>
      </p:nvGrpSpPr>
      <p:grpSpPr>
        <a:xfrm>
          <a:off x="0" y="0"/>
          <a:ext cx="0" cy="0"/>
          <a:chOff x="0" y="0"/>
          <a:chExt cx="0" cy="0"/>
        </a:xfrm>
      </p:grpSpPr>
      <p:sp>
        <p:nvSpPr>
          <p:cNvPr id="188" name="Google Shape;188;p24"/>
          <p:cNvSpPr txBox="1"/>
          <p:nvPr/>
        </p:nvSpPr>
        <p:spPr>
          <a:xfrm>
            <a:off x="1566025" y="2254850"/>
            <a:ext cx="3783300" cy="382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lt1"/>
              </a:solidFill>
              <a:latin typeface="Century Gothic"/>
              <a:ea typeface="Century Gothic"/>
              <a:cs typeface="Century Gothic"/>
              <a:sym typeface="Century Gothic"/>
            </a:endParaRPr>
          </a:p>
        </p:txBody>
      </p:sp>
      <p:pic>
        <p:nvPicPr>
          <p:cNvPr id="189" name="Google Shape;189;p24"/>
          <p:cNvPicPr preferRelativeResize="0">
            <a:picLocks noGrp="1"/>
          </p:cNvPicPr>
          <p:nvPr>
            <p:ph type="body" idx="4294967295"/>
          </p:nvPr>
        </p:nvPicPr>
        <p:blipFill rotWithShape="1">
          <a:blip r:embed="rId4">
            <a:alphaModFix/>
          </a:blip>
          <a:srcRect/>
          <a:stretch/>
        </p:blipFill>
        <p:spPr>
          <a:xfrm>
            <a:off x="0" y="1245000"/>
            <a:ext cx="12188700" cy="5784300"/>
          </a:xfrm>
          <a:prstGeom prst="rect">
            <a:avLst/>
          </a:prstGeom>
          <a:noFill/>
          <a:ln>
            <a:noFill/>
          </a:ln>
        </p:spPr>
      </p:pic>
      <p:sp>
        <p:nvSpPr>
          <p:cNvPr id="190" name="Google Shape;190;p24"/>
          <p:cNvSpPr txBox="1"/>
          <p:nvPr/>
        </p:nvSpPr>
        <p:spPr>
          <a:xfrm>
            <a:off x="3358650" y="325575"/>
            <a:ext cx="5471400" cy="76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600">
                <a:solidFill>
                  <a:schemeClr val="lt1"/>
                </a:solidFill>
                <a:latin typeface="Algerian"/>
                <a:ea typeface="Algerian"/>
                <a:cs typeface="Algerian"/>
                <a:sym typeface="Algerian"/>
              </a:rPr>
              <a:t>DATABASE -SCHEMA</a:t>
            </a:r>
            <a:endParaRPr sz="3600">
              <a:solidFill>
                <a:schemeClr val="lt1"/>
              </a:solidFill>
              <a:latin typeface="Algerian"/>
              <a:ea typeface="Algerian"/>
              <a:cs typeface="Algerian"/>
              <a:sym typeface="Algeri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4"/>
        <p:cNvGrpSpPr/>
        <p:nvPr/>
      </p:nvGrpSpPr>
      <p:grpSpPr>
        <a:xfrm>
          <a:off x="0" y="0"/>
          <a:ext cx="0" cy="0"/>
          <a:chOff x="0" y="0"/>
          <a:chExt cx="0" cy="0"/>
        </a:xfrm>
      </p:grpSpPr>
      <p:sp>
        <p:nvSpPr>
          <p:cNvPr id="195" name="Google Shape;195;p25"/>
          <p:cNvSpPr/>
          <p:nvPr/>
        </p:nvSpPr>
        <p:spPr>
          <a:xfrm>
            <a:off x="2841275" y="278639"/>
            <a:ext cx="5008880"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a:solidFill>
                  <a:schemeClr val="lt1"/>
                </a:solidFill>
                <a:latin typeface="Algerian"/>
                <a:ea typeface="Algerian"/>
                <a:cs typeface="Algerian"/>
                <a:sym typeface="Algerian"/>
              </a:rPr>
              <a:t>Data</a:t>
            </a:r>
            <a:r>
              <a:rPr lang="en-US" sz="3600" b="1">
                <a:solidFill>
                  <a:srgbClr val="FF0000"/>
                </a:solidFill>
                <a:latin typeface="Algerian"/>
                <a:ea typeface="Algerian"/>
                <a:cs typeface="Algerian"/>
                <a:sym typeface="Algerian"/>
              </a:rPr>
              <a:t> </a:t>
            </a:r>
            <a:r>
              <a:rPr lang="en-US" sz="3600" b="1">
                <a:solidFill>
                  <a:schemeClr val="lt1"/>
                </a:solidFill>
                <a:latin typeface="Algerian"/>
                <a:ea typeface="Algerian"/>
                <a:cs typeface="Algerian"/>
                <a:sym typeface="Algerian"/>
              </a:rPr>
              <a:t>Overview</a:t>
            </a:r>
            <a:endParaRPr/>
          </a:p>
        </p:txBody>
      </p:sp>
      <p:pic>
        <p:nvPicPr>
          <p:cNvPr id="196" name="Google Shape;196;p25"/>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197" name="Google Shape;197;p25"/>
          <p:cNvSpPr/>
          <p:nvPr/>
        </p:nvSpPr>
        <p:spPr>
          <a:xfrm>
            <a:off x="270589" y="1460887"/>
            <a:ext cx="6904652" cy="5139869"/>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2000"/>
              <a:buFont typeface="Century Gothic"/>
              <a:buNone/>
            </a:pPr>
            <a:r>
              <a:rPr lang="en-US" sz="2000" b="1" i="0" u="none" strike="noStrike" cap="none">
                <a:solidFill>
                  <a:schemeClr val="lt1"/>
                </a:solidFill>
                <a:latin typeface="Century Gothic"/>
                <a:ea typeface="Century Gothic"/>
                <a:cs typeface="Century Gothic"/>
                <a:sym typeface="Century Gothic"/>
              </a:rPr>
              <a:t>Data Source:</a:t>
            </a:r>
            <a:r>
              <a:rPr lang="en-US" sz="2000" b="0" i="0" u="none" strike="noStrike" cap="none">
                <a:solidFill>
                  <a:schemeClr val="lt1"/>
                </a:solidFill>
                <a:latin typeface="Century Gothic"/>
                <a:ea typeface="Century Gothic"/>
                <a:cs typeface="Century Gothic"/>
                <a:sym typeface="Century Gothic"/>
              </a:rPr>
              <a:t> </a:t>
            </a:r>
            <a:endParaRPr/>
          </a:p>
          <a:p>
            <a:pPr marL="0" marR="0" lvl="0" indent="0" algn="l" rtl="0">
              <a:lnSpc>
                <a:spcPct val="100000"/>
              </a:lnSpc>
              <a:spcBef>
                <a:spcPts val="0"/>
              </a:spcBef>
              <a:spcAft>
                <a:spcPts val="0"/>
              </a:spcAft>
              <a:buClr>
                <a:schemeClr val="lt1"/>
              </a:buClr>
              <a:buSzPts val="1800"/>
              <a:buFont typeface="Century Gothic"/>
              <a:buNone/>
            </a:pPr>
            <a:endParaRPr sz="1800">
              <a:solidFill>
                <a:schemeClr val="lt1"/>
              </a:solidFill>
              <a:latin typeface="Century Gothic"/>
              <a:ea typeface="Century Gothic"/>
              <a:cs typeface="Century Gothic"/>
              <a:sym typeface="Century Gothic"/>
            </a:endParaRPr>
          </a:p>
          <a:p>
            <a:pPr marL="342900" marR="0" lvl="0" indent="-342900" algn="l" rtl="0">
              <a:lnSpc>
                <a:spcPct val="100000"/>
              </a:lnSpc>
              <a:spcBef>
                <a:spcPts val="0"/>
              </a:spcBef>
              <a:spcAft>
                <a:spcPts val="0"/>
              </a:spcAft>
              <a:buClr>
                <a:schemeClr val="lt1"/>
              </a:buClr>
              <a:buSzPts val="1800"/>
              <a:buFont typeface="Arial"/>
              <a:buChar char="•"/>
            </a:pPr>
            <a:r>
              <a:rPr lang="en-US" sz="1800" b="0" i="0" u="none" strike="noStrike" cap="none">
                <a:solidFill>
                  <a:schemeClr val="lt1"/>
                </a:solidFill>
                <a:latin typeface="Century Gothic"/>
                <a:ea typeface="Century Gothic"/>
                <a:cs typeface="Century Gothic"/>
                <a:sym typeface="Century Gothic"/>
              </a:rPr>
              <a:t>IPL dataset (various tables like matches, player, team, batsman_scored, ball_by_ball). </a:t>
            </a:r>
            <a:endParaRPr/>
          </a:p>
          <a:p>
            <a:pPr marL="342900" marR="0" lvl="0" indent="-228600" algn="l" rtl="0">
              <a:lnSpc>
                <a:spcPct val="100000"/>
              </a:lnSpc>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2000" b="1">
                <a:solidFill>
                  <a:schemeClr val="lt1"/>
                </a:solidFill>
                <a:latin typeface="Century Gothic"/>
                <a:ea typeface="Century Gothic"/>
                <a:cs typeface="Century Gothic"/>
                <a:sym typeface="Century Gothic"/>
              </a:rPr>
              <a:t>Key Metrics Analyzed:</a:t>
            </a:r>
            <a:endParaRPr/>
          </a:p>
          <a:p>
            <a:pPr marL="0" marR="0" lvl="0" indent="0" algn="l" rtl="0">
              <a:spcBef>
                <a:spcPts val="0"/>
              </a:spcBef>
              <a:spcAft>
                <a:spcPts val="0"/>
              </a:spcAft>
              <a:buClr>
                <a:schemeClr val="lt1"/>
              </a:buClr>
              <a:buSzPts val="1800"/>
              <a:buFont typeface="Arial"/>
              <a:buNone/>
            </a:pPr>
            <a:endParaRPr sz="1800" b="1">
              <a:solidFill>
                <a:schemeClr val="lt1"/>
              </a:solidFill>
              <a:latin typeface="Century Gothic"/>
              <a:ea typeface="Century Gothic"/>
              <a:cs typeface="Century Gothic"/>
              <a:sym typeface="Century Gothic"/>
            </a:endParaRPr>
          </a:p>
          <a:p>
            <a:pPr marL="342900" marR="0" lvl="0" indent="-3429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Batting performance: Total runs, strike rate, boundaries.</a:t>
            </a:r>
            <a:endParaRPr/>
          </a:p>
          <a:p>
            <a:pPr marL="342900" marR="0" lvl="0" indent="-3429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Bowling performance: Wickets taken, economy rate, bowling effectiveness.</a:t>
            </a:r>
            <a:endParaRPr/>
          </a:p>
          <a:p>
            <a:pPr marL="342900" marR="0" lvl="0" indent="-3429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Player versatility: Contributions in both batting and bowling.</a:t>
            </a:r>
            <a:endParaRPr/>
          </a:p>
          <a:p>
            <a:pPr marL="342900" marR="0" lvl="0" indent="-3429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Team performance: Match wins, home ground impact.</a:t>
            </a:r>
            <a:endParaRPr/>
          </a:p>
          <a:p>
            <a:pPr marL="0" marR="0" lvl="0" indent="0" algn="l" rtl="0">
              <a:lnSpc>
                <a:spcPct val="100000"/>
              </a:lnSpc>
              <a:spcBef>
                <a:spcPts val="0"/>
              </a:spcBef>
              <a:spcAft>
                <a:spcPts val="0"/>
              </a:spcAft>
              <a:buNone/>
            </a:pPr>
            <a:endParaRPr sz="1800" b="0" i="0" u="none" strike="noStrike" cap="none">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2000" b="1">
                <a:solidFill>
                  <a:schemeClr val="lt1"/>
                </a:solidFill>
                <a:latin typeface="Century Gothic"/>
                <a:ea typeface="Century Gothic"/>
                <a:cs typeface="Century Gothic"/>
                <a:sym typeface="Century Gothic"/>
              </a:rPr>
              <a:t>Tools Used:</a:t>
            </a:r>
            <a:endParaRPr/>
          </a:p>
          <a:p>
            <a:pPr marL="0" marR="0" lvl="0" indent="0" algn="l" rtl="0">
              <a:spcBef>
                <a:spcPts val="0"/>
              </a:spcBef>
              <a:spcAft>
                <a:spcPts val="0"/>
              </a:spcAft>
              <a:buClr>
                <a:schemeClr val="lt1"/>
              </a:buClr>
              <a:buSzPts val="1800"/>
              <a:buFont typeface="Arial"/>
              <a:buNone/>
            </a:pPr>
            <a:endParaRPr sz="1800" b="1">
              <a:solidFill>
                <a:schemeClr val="lt1"/>
              </a:solidFill>
              <a:latin typeface="Century Gothic"/>
              <a:ea typeface="Century Gothic"/>
              <a:cs typeface="Century Gothic"/>
              <a:sym typeface="Century Gothic"/>
            </a:endParaRPr>
          </a:p>
          <a:p>
            <a:pPr marL="342900" marR="0" lvl="0" indent="-3429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SQL Workbench for data querying and extraction.</a:t>
            </a:r>
            <a:endParaRPr/>
          </a:p>
          <a:p>
            <a:pPr marL="342900" marR="0" lvl="0" indent="-3429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Excel for visualization and in-depth analysis.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1"/>
        <p:cNvGrpSpPr/>
        <p:nvPr/>
      </p:nvGrpSpPr>
      <p:grpSpPr>
        <a:xfrm>
          <a:off x="0" y="0"/>
          <a:ext cx="0" cy="0"/>
          <a:chOff x="0" y="0"/>
          <a:chExt cx="0" cy="0"/>
        </a:xfrm>
      </p:grpSpPr>
      <p:sp>
        <p:nvSpPr>
          <p:cNvPr id="202" name="Google Shape;202;p26"/>
          <p:cNvSpPr/>
          <p:nvPr/>
        </p:nvSpPr>
        <p:spPr>
          <a:xfrm>
            <a:off x="3158516" y="214604"/>
            <a:ext cx="5008880" cy="78505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a:solidFill>
                  <a:schemeClr val="lt1"/>
                </a:solidFill>
                <a:latin typeface="Algerian"/>
                <a:ea typeface="Algerian"/>
                <a:cs typeface="Algerian"/>
                <a:sym typeface="Algerian"/>
              </a:rPr>
              <a:t>Methodology</a:t>
            </a:r>
            <a:endParaRPr/>
          </a:p>
        </p:txBody>
      </p:sp>
      <p:pic>
        <p:nvPicPr>
          <p:cNvPr id="203" name="Google Shape;203;p26"/>
          <p:cNvPicPr preferRelativeResize="0"/>
          <p:nvPr/>
        </p:nvPicPr>
        <p:blipFill rotWithShape="1">
          <a:blip r:embed="rId4">
            <a:alphaModFix/>
          </a:blip>
          <a:srcRect/>
          <a:stretch/>
        </p:blipFill>
        <p:spPr>
          <a:xfrm>
            <a:off x="0" y="44216"/>
            <a:ext cx="2072871" cy="1163683"/>
          </a:xfrm>
          <a:prstGeom prst="rect">
            <a:avLst/>
          </a:prstGeom>
          <a:noFill/>
          <a:ln>
            <a:noFill/>
          </a:ln>
        </p:spPr>
      </p:pic>
      <p:cxnSp>
        <p:nvCxnSpPr>
          <p:cNvPr id="204" name="Google Shape;204;p26"/>
          <p:cNvCxnSpPr/>
          <p:nvPr/>
        </p:nvCxnSpPr>
        <p:spPr>
          <a:xfrm>
            <a:off x="6055575" y="1380931"/>
            <a:ext cx="0" cy="5262465"/>
          </a:xfrm>
          <a:prstGeom prst="straightConnector1">
            <a:avLst/>
          </a:prstGeom>
          <a:noFill/>
          <a:ln w="28575" cap="rnd" cmpd="sng">
            <a:solidFill>
              <a:schemeClr val="lt1"/>
            </a:solidFill>
            <a:prstDash val="solid"/>
            <a:round/>
            <a:headEnd type="none" w="sm" len="sm"/>
            <a:tailEnd type="none" w="sm" len="sm"/>
          </a:ln>
          <a:effectLst>
            <a:outerShdw blurRad="38100" dist="25400" dir="5400000" rotWithShape="0">
              <a:srgbClr val="000000">
                <a:alpha val="44705"/>
              </a:srgbClr>
            </a:outerShdw>
          </a:effectLst>
        </p:spPr>
      </p:cxnSp>
      <p:cxnSp>
        <p:nvCxnSpPr>
          <p:cNvPr id="205" name="Google Shape;205;p26"/>
          <p:cNvCxnSpPr/>
          <p:nvPr/>
        </p:nvCxnSpPr>
        <p:spPr>
          <a:xfrm rot="10800000">
            <a:off x="707571" y="4002832"/>
            <a:ext cx="10776857" cy="0"/>
          </a:xfrm>
          <a:prstGeom prst="straightConnector1">
            <a:avLst/>
          </a:prstGeom>
          <a:noFill/>
          <a:ln w="28575" cap="rnd" cmpd="sng">
            <a:solidFill>
              <a:schemeClr val="lt1"/>
            </a:solidFill>
            <a:prstDash val="solid"/>
            <a:round/>
            <a:headEnd type="none" w="sm" len="sm"/>
            <a:tailEnd type="none" w="sm" len="sm"/>
          </a:ln>
          <a:effectLst>
            <a:outerShdw blurRad="38100" dist="25400" dir="5400000" rotWithShape="0">
              <a:srgbClr val="000000">
                <a:alpha val="44705"/>
              </a:srgbClr>
            </a:outerShdw>
          </a:effectLst>
        </p:spPr>
      </p:cxnSp>
      <p:sp>
        <p:nvSpPr>
          <p:cNvPr id="206" name="Google Shape;206;p26"/>
          <p:cNvSpPr txBox="1"/>
          <p:nvPr/>
        </p:nvSpPr>
        <p:spPr>
          <a:xfrm>
            <a:off x="6319939" y="1379100"/>
            <a:ext cx="4900126" cy="23391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entury Gothic"/>
                <a:ea typeface="Century Gothic"/>
                <a:cs typeface="Century Gothic"/>
                <a:sym typeface="Century Gothic"/>
              </a:rPr>
              <a:t>Step 2:</a:t>
            </a:r>
            <a:endParaRPr/>
          </a:p>
          <a:p>
            <a:pPr marL="0" marR="0" lvl="0" indent="0" algn="l" rtl="0">
              <a:spcBef>
                <a:spcPts val="0"/>
              </a:spcBef>
              <a:spcAft>
                <a:spcPts val="0"/>
              </a:spcAft>
              <a:buClr>
                <a:schemeClr val="lt1"/>
              </a:buClr>
              <a:buSzPts val="1800"/>
              <a:buFont typeface="Arial"/>
              <a:buNone/>
            </a:pPr>
            <a:endParaRPr sz="1800" b="1">
              <a:solidFill>
                <a:schemeClr val="lt1"/>
              </a:solidFill>
              <a:latin typeface="Century Gothic"/>
              <a:ea typeface="Century Gothic"/>
              <a:cs typeface="Century Gothic"/>
              <a:sym typeface="Century Gothic"/>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Player Performance Analysis.</a:t>
            </a:r>
            <a:endParaRPr/>
          </a:p>
          <a:p>
            <a:pPr marL="285750" marR="0" lvl="0" indent="-17145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Ranking players based on key metrics such as runs scored, wickets taken, strike rate, and economy rate.</a:t>
            </a:r>
            <a:endParaRPr/>
          </a:p>
          <a:p>
            <a:pPr marL="285750" marR="0" lvl="0" indent="-17145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p:txBody>
      </p:sp>
      <p:sp>
        <p:nvSpPr>
          <p:cNvPr id="207" name="Google Shape;207;p26"/>
          <p:cNvSpPr txBox="1"/>
          <p:nvPr/>
        </p:nvSpPr>
        <p:spPr>
          <a:xfrm>
            <a:off x="891086" y="1380931"/>
            <a:ext cx="4900126" cy="23391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entury Gothic"/>
                <a:ea typeface="Century Gothic"/>
                <a:cs typeface="Century Gothic"/>
                <a:sym typeface="Century Gothic"/>
              </a:rPr>
              <a:t>Step 1: </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Data Extraction and preprocessing. Using SQL queries to aggregate batting and bowling performance metrics for individual players.</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Identifying player versatility by calculating metrics like strike rate, economy rate, and player impact.</a:t>
            </a:r>
            <a:endParaRPr/>
          </a:p>
        </p:txBody>
      </p:sp>
      <p:sp>
        <p:nvSpPr>
          <p:cNvPr id="208" name="Google Shape;208;p26"/>
          <p:cNvSpPr txBox="1"/>
          <p:nvPr/>
        </p:nvSpPr>
        <p:spPr>
          <a:xfrm>
            <a:off x="891086" y="4316410"/>
            <a:ext cx="4900126" cy="23391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entury Gothic"/>
                <a:ea typeface="Century Gothic"/>
                <a:cs typeface="Century Gothic"/>
                <a:sym typeface="Century Gothic"/>
              </a:rPr>
              <a:t>Step 3:</a:t>
            </a:r>
            <a:endParaRPr/>
          </a:p>
          <a:p>
            <a:pPr marL="0" marR="0" lvl="0" indent="0" algn="l" rtl="0">
              <a:spcBef>
                <a:spcPts val="0"/>
              </a:spcBef>
              <a:spcAft>
                <a:spcPts val="0"/>
              </a:spcAft>
              <a:buClr>
                <a:schemeClr val="lt1"/>
              </a:buClr>
              <a:buSzPts val="1800"/>
              <a:buFont typeface="Arial"/>
              <a:buNone/>
            </a:pPr>
            <a:endParaRPr sz="1800" b="1">
              <a:solidFill>
                <a:schemeClr val="lt1"/>
              </a:solidFill>
              <a:latin typeface="Century Gothic"/>
              <a:ea typeface="Century Gothic"/>
              <a:cs typeface="Century Gothic"/>
              <a:sym typeface="Century Gothic"/>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Team-Level Insights. Analyzing home ground performance to understand the impact of venue on match outcomes.</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Studying historical RCB performance across various seasons.</a:t>
            </a:r>
            <a:endParaRPr/>
          </a:p>
          <a:p>
            <a:pPr marL="285750" marR="0" lvl="0" indent="-17145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p:txBody>
      </p:sp>
      <p:sp>
        <p:nvSpPr>
          <p:cNvPr id="209" name="Google Shape;209;p26"/>
          <p:cNvSpPr txBox="1"/>
          <p:nvPr/>
        </p:nvSpPr>
        <p:spPr>
          <a:xfrm>
            <a:off x="6319939" y="4309639"/>
            <a:ext cx="4900126" cy="23391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lt1"/>
                </a:solidFill>
                <a:latin typeface="Century Gothic"/>
                <a:ea typeface="Century Gothic"/>
                <a:cs typeface="Century Gothic"/>
                <a:sym typeface="Century Gothic"/>
              </a:rPr>
              <a:t>Step 4:</a:t>
            </a:r>
            <a:endParaRPr/>
          </a:p>
          <a:p>
            <a:pPr marL="0" marR="0" lvl="0" indent="0" algn="l" rtl="0">
              <a:spcBef>
                <a:spcPts val="0"/>
              </a:spcBef>
              <a:spcAft>
                <a:spcPts val="0"/>
              </a:spcAft>
              <a:buClr>
                <a:schemeClr val="lt1"/>
              </a:buClr>
              <a:buSzPts val="1800"/>
              <a:buFont typeface="Arial"/>
              <a:buNone/>
            </a:pPr>
            <a:endParaRPr sz="1800" b="1">
              <a:solidFill>
                <a:schemeClr val="lt1"/>
              </a:solidFill>
              <a:latin typeface="Century Gothic"/>
              <a:ea typeface="Century Gothic"/>
              <a:cs typeface="Century Gothic"/>
              <a:sym typeface="Century Gothic"/>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Recommendations and Strategic Decisions.</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Formulating recommendations for RCB based on data-driven insights from player performance and team dynamics.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3"/>
        <p:cNvGrpSpPr/>
        <p:nvPr/>
      </p:nvGrpSpPr>
      <p:grpSpPr>
        <a:xfrm>
          <a:off x="0" y="0"/>
          <a:ext cx="0" cy="0"/>
          <a:chOff x="0" y="0"/>
          <a:chExt cx="0" cy="0"/>
        </a:xfrm>
      </p:grpSpPr>
      <p:sp>
        <p:nvSpPr>
          <p:cNvPr id="214" name="Google Shape;214;p27"/>
          <p:cNvSpPr/>
          <p:nvPr/>
        </p:nvSpPr>
        <p:spPr>
          <a:xfrm>
            <a:off x="2652769" y="238197"/>
            <a:ext cx="6018244" cy="7757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lgerian"/>
                <a:ea typeface="Algerian"/>
                <a:cs typeface="Algerian"/>
                <a:sym typeface="Algerian"/>
              </a:rPr>
              <a:t>Analysis &amp; Key finding</a:t>
            </a:r>
            <a:endParaRPr sz="3600" b="1">
              <a:solidFill>
                <a:schemeClr val="lt1"/>
              </a:solidFill>
              <a:latin typeface="Algerian"/>
              <a:ea typeface="Algerian"/>
              <a:cs typeface="Algerian"/>
              <a:sym typeface="Algerian"/>
            </a:endParaRPr>
          </a:p>
        </p:txBody>
      </p:sp>
      <p:pic>
        <p:nvPicPr>
          <p:cNvPr id="215" name="Google Shape;215;p27"/>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216" name="Google Shape;216;p27"/>
          <p:cNvSpPr/>
          <p:nvPr/>
        </p:nvSpPr>
        <p:spPr>
          <a:xfrm>
            <a:off x="163800" y="1207900"/>
            <a:ext cx="6279300" cy="55254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chemeClr val="lt1"/>
              </a:buClr>
              <a:buSzPts val="1800"/>
              <a:buFont typeface="Century Gothic"/>
              <a:buAutoNum type="arabicPeriod"/>
            </a:pPr>
            <a:r>
              <a:rPr lang="en-US" sz="1800" b="1">
                <a:solidFill>
                  <a:schemeClr val="lt1"/>
                </a:solidFill>
                <a:latin typeface="Century Gothic"/>
                <a:ea typeface="Century Gothic"/>
                <a:cs typeface="Century Gothic"/>
                <a:sym typeface="Century Gothic"/>
              </a:rPr>
              <a:t>Top Performers in Death Overs</a:t>
            </a:r>
            <a:endParaRPr/>
          </a:p>
          <a:p>
            <a:pPr marL="0" marR="0" lvl="0" indent="0" algn="l" rtl="0">
              <a:spcBef>
                <a:spcPts val="0"/>
              </a:spcBef>
              <a:spcAft>
                <a:spcPts val="0"/>
              </a:spcAft>
              <a:buNone/>
            </a:pPr>
            <a:endParaRPr sz="1800" b="1">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Objective:</a:t>
            </a:r>
            <a:endParaRPr/>
          </a:p>
          <a:p>
            <a:pPr marL="0" marR="0" lvl="0" indent="-1143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 Identify players excelling in death overs (last 4 overs of an innings) based on runs scored and wickets taken.</a:t>
            </a:r>
            <a:endParaRPr/>
          </a:p>
          <a:p>
            <a:pPr marL="0" marR="0" lvl="0" indent="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Analysis:</a:t>
            </a:r>
            <a:r>
              <a:rPr lang="en-US" sz="1800">
                <a:solidFill>
                  <a:schemeClr val="lt1"/>
                </a:solidFill>
                <a:latin typeface="Century Gothic"/>
                <a:ea typeface="Century Gothic"/>
                <a:cs typeface="Century Gothic"/>
                <a:sym typeface="Century Gothic"/>
              </a:rPr>
              <a:t> </a:t>
            </a:r>
            <a:endParaRPr/>
          </a:p>
          <a:p>
            <a:pPr marL="0" marR="0" lvl="0" indent="-1143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Players with a high strike rate in death overs were considered for batting, while bowlers with high wickets in this period were analyzed.</a:t>
            </a:r>
            <a:endParaRPr/>
          </a:p>
          <a:p>
            <a:pPr marL="0" marR="0" lvl="0" indent="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Insights:</a:t>
            </a:r>
            <a:endParaRPr sz="1800">
              <a:solidFill>
                <a:schemeClr val="lt1"/>
              </a:solidFill>
              <a:latin typeface="Century Gothic"/>
              <a:ea typeface="Century Gothic"/>
              <a:cs typeface="Century Gothic"/>
              <a:sym typeface="Century Gothic"/>
            </a:endParaRPr>
          </a:p>
          <a:p>
            <a:pPr marL="914400" lvl="1" indent="-336550" algn="l" rtl="0">
              <a:lnSpc>
                <a:spcPct val="90000"/>
              </a:lnSpc>
              <a:spcBef>
                <a:spcPts val="0"/>
              </a:spcBef>
              <a:spcAft>
                <a:spcPts val="0"/>
              </a:spcAft>
              <a:buClr>
                <a:schemeClr val="lt1"/>
              </a:buClr>
              <a:buSzPts val="1700"/>
              <a:buChar char="•"/>
            </a:pPr>
            <a:r>
              <a:rPr lang="en-US" sz="1700">
                <a:solidFill>
                  <a:schemeClr val="lt1"/>
                </a:solidFill>
                <a:latin typeface="Century Gothic"/>
                <a:ea typeface="Century Gothic"/>
                <a:cs typeface="Century Gothic"/>
                <a:sym typeface="Century Gothic"/>
              </a:rPr>
              <a:t>Identified top 10 players excelling under pressure.</a:t>
            </a:r>
            <a:endParaRPr sz="2400">
              <a:solidFill>
                <a:schemeClr val="lt1"/>
              </a:solidFill>
              <a:latin typeface="Corbel"/>
              <a:ea typeface="Corbel"/>
              <a:cs typeface="Corbel"/>
              <a:sym typeface="Corbel"/>
            </a:endParaRPr>
          </a:p>
          <a:p>
            <a:pPr marL="914400" lvl="1" indent="-342900" algn="l" rtl="0">
              <a:spcBef>
                <a:spcPts val="0"/>
              </a:spcBef>
              <a:spcAft>
                <a:spcPts val="0"/>
              </a:spcAft>
              <a:buClr>
                <a:schemeClr val="lt1"/>
              </a:buClr>
              <a:buSzPts val="1800"/>
              <a:buChar char="•"/>
            </a:pPr>
            <a:r>
              <a:rPr lang="en-US" sz="1800">
                <a:solidFill>
                  <a:schemeClr val="lt1"/>
                </a:solidFill>
                <a:latin typeface="Century Gothic"/>
                <a:ea typeface="Century Gothic"/>
                <a:cs typeface="Century Gothic"/>
                <a:sym typeface="Century Gothic"/>
              </a:rPr>
              <a:t> MS Dhoni scored the highest death-over runs (559) and took 41 wickets, showing his        dominance and match-finishing capability under pressure.</a:t>
            </a:r>
            <a:endParaRPr sz="2400">
              <a:solidFill>
                <a:schemeClr val="lt1"/>
              </a:solidFill>
              <a:latin typeface="Corbel"/>
              <a:ea typeface="Corbel"/>
              <a:cs typeface="Corbel"/>
              <a:sym typeface="Corbel"/>
            </a:endParaRPr>
          </a:p>
          <a:p>
            <a:pPr marL="914400" lvl="1" indent="-342900" algn="l" rtl="0">
              <a:spcBef>
                <a:spcPts val="0"/>
              </a:spcBef>
              <a:spcAft>
                <a:spcPts val="0"/>
              </a:spcAft>
              <a:buClr>
                <a:schemeClr val="lt1"/>
              </a:buClr>
              <a:buSzPts val="1800"/>
              <a:buChar char="•"/>
            </a:pPr>
            <a:r>
              <a:rPr lang="en-US" sz="1800">
                <a:solidFill>
                  <a:schemeClr val="lt1"/>
                </a:solidFill>
                <a:latin typeface="Century Gothic"/>
                <a:ea typeface="Century Gothic"/>
                <a:cs typeface="Century Gothic"/>
                <a:sym typeface="Century Gothic"/>
              </a:rPr>
              <a:t> Kieron Pollard and JP Faulkner also stood out as effective all-rounders, contributing with both runs and wickets in the death overs.</a:t>
            </a:r>
            <a:endParaRPr sz="1800">
              <a:solidFill>
                <a:schemeClr val="lt1"/>
              </a:solidFill>
              <a:latin typeface="Century Gothic"/>
              <a:ea typeface="Century Gothic"/>
              <a:cs typeface="Century Gothic"/>
              <a:sym typeface="Century Gothic"/>
            </a:endParaRPr>
          </a:p>
        </p:txBody>
      </p:sp>
      <p:sp>
        <p:nvSpPr>
          <p:cNvPr id="217" name="Google Shape;217;p27"/>
          <p:cNvSpPr txBox="1"/>
          <p:nvPr/>
        </p:nvSpPr>
        <p:spPr>
          <a:xfrm>
            <a:off x="6900250" y="1506075"/>
            <a:ext cx="5117700" cy="427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lt1"/>
              </a:solidFill>
              <a:latin typeface="Century Gothic"/>
              <a:ea typeface="Century Gothic"/>
              <a:cs typeface="Century Gothic"/>
              <a:sym typeface="Century Gothic"/>
            </a:endParaRPr>
          </a:p>
        </p:txBody>
      </p:sp>
      <p:sp>
        <p:nvSpPr>
          <p:cNvPr id="218" name="Google Shape;218;p27"/>
          <p:cNvSpPr txBox="1"/>
          <p:nvPr/>
        </p:nvSpPr>
        <p:spPr>
          <a:xfrm>
            <a:off x="6882650" y="1485450"/>
            <a:ext cx="4923600" cy="448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lt1"/>
              </a:solidFill>
              <a:latin typeface="Century Gothic"/>
              <a:ea typeface="Century Gothic"/>
              <a:cs typeface="Century Gothic"/>
              <a:sym typeface="Century Gothic"/>
            </a:endParaRPr>
          </a:p>
        </p:txBody>
      </p:sp>
      <p:pic>
        <p:nvPicPr>
          <p:cNvPr id="219" name="Google Shape;219;p27" title="Chart"/>
          <p:cNvPicPr preferRelativeResize="0"/>
          <p:nvPr/>
        </p:nvPicPr>
        <p:blipFill rotWithShape="1">
          <a:blip r:embed="rId5">
            <a:alphaModFix/>
          </a:blip>
          <a:srcRect r="4988"/>
          <a:stretch/>
        </p:blipFill>
        <p:spPr>
          <a:xfrm>
            <a:off x="6521200" y="1338925"/>
            <a:ext cx="5597749" cy="46306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3"/>
        <p:cNvGrpSpPr/>
        <p:nvPr/>
      </p:nvGrpSpPr>
      <p:grpSpPr>
        <a:xfrm>
          <a:off x="0" y="0"/>
          <a:ext cx="0" cy="0"/>
          <a:chOff x="0" y="0"/>
          <a:chExt cx="0" cy="0"/>
        </a:xfrm>
      </p:grpSpPr>
      <p:pic>
        <p:nvPicPr>
          <p:cNvPr id="224" name="Google Shape;224;p28"/>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225" name="Google Shape;225;p28"/>
          <p:cNvSpPr/>
          <p:nvPr/>
        </p:nvSpPr>
        <p:spPr>
          <a:xfrm>
            <a:off x="178350" y="1207899"/>
            <a:ext cx="6708722" cy="5605885"/>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chemeClr val="lt1"/>
              </a:buClr>
              <a:buSzPts val="1800"/>
              <a:buFont typeface="Century Gothic"/>
              <a:buAutoNum type="arabicPeriod" startAt="2"/>
            </a:pPr>
            <a:r>
              <a:rPr lang="en-US" sz="1800" b="1">
                <a:solidFill>
                  <a:schemeClr val="lt1"/>
                </a:solidFill>
                <a:latin typeface="Century Gothic"/>
                <a:ea typeface="Century Gothic"/>
                <a:cs typeface="Century Gothic"/>
                <a:sym typeface="Century Gothic"/>
              </a:rPr>
              <a:t>Home Ground Performance</a:t>
            </a:r>
            <a:endParaRPr/>
          </a:p>
          <a:p>
            <a:pPr marL="0" marR="0" lvl="0" indent="0" algn="l" rtl="0">
              <a:spcBef>
                <a:spcPts val="0"/>
              </a:spcBef>
              <a:spcAft>
                <a:spcPts val="0"/>
              </a:spcAft>
              <a:buNone/>
            </a:pPr>
            <a:endParaRPr sz="1800" b="1">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Objective:</a:t>
            </a:r>
            <a:endParaRPr/>
          </a:p>
          <a:p>
            <a:pPr marL="0" marR="0" lvl="0" indent="-1143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Analyze RCB's performance at M. Chinnaswamy Stadium and other teams’ home venues.</a:t>
            </a:r>
            <a:endParaRPr/>
          </a:p>
          <a:p>
            <a:pPr marL="0" marR="0" lvl="0" indent="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Analysis:</a:t>
            </a:r>
            <a:r>
              <a:rPr lang="en-US" sz="1800">
                <a:solidFill>
                  <a:schemeClr val="lt1"/>
                </a:solidFill>
                <a:latin typeface="Century Gothic"/>
                <a:ea typeface="Century Gothic"/>
                <a:cs typeface="Century Gothic"/>
                <a:sym typeface="Century Gothic"/>
              </a:rPr>
              <a:t> </a:t>
            </a:r>
            <a:endParaRPr/>
          </a:p>
          <a:p>
            <a:pPr marL="0" marR="0" lvl="0" indent="-1143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Calculated win percentage at each venue based on match data.</a:t>
            </a:r>
            <a:endParaRPr/>
          </a:p>
          <a:p>
            <a:pPr marL="0" marR="0" lvl="0" indent="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Insights:</a:t>
            </a:r>
            <a:endParaRPr sz="1800">
              <a:solidFill>
                <a:schemeClr val="lt1"/>
              </a:solidFill>
              <a:latin typeface="Century Gothic"/>
              <a:ea typeface="Century Gothic"/>
              <a:cs typeface="Century Gothic"/>
              <a:sym typeface="Century Gothic"/>
            </a:endParaRPr>
          </a:p>
          <a:p>
            <a:pPr marL="742950" marR="0" lvl="1" indent="-285750" algn="l" rtl="0">
              <a:spcBef>
                <a:spcPts val="0"/>
              </a:spcBef>
              <a:spcAft>
                <a:spcPts val="0"/>
              </a:spcAft>
              <a:buClr>
                <a:schemeClr val="lt1"/>
              </a:buClr>
              <a:buSzPts val="1800"/>
              <a:buFont typeface="Arial"/>
              <a:buChar char="•"/>
            </a:pPr>
            <a:r>
              <a:rPr lang="en-US" sz="1800" b="0" i="0" u="none" strike="noStrike" cap="none">
                <a:solidFill>
                  <a:schemeClr val="lt1"/>
                </a:solidFill>
                <a:latin typeface="Century Gothic"/>
                <a:ea typeface="Century Gothic"/>
                <a:cs typeface="Century Gothic"/>
                <a:sym typeface="Century Gothic"/>
              </a:rPr>
              <a:t>RCB’s home win percentage fluctuates between seasons, highlighting the need for tactical adjustment at home.</a:t>
            </a:r>
            <a:endParaRPr/>
          </a:p>
          <a:p>
            <a:pPr marL="742950" marR="0" lvl="1" indent="-285750" algn="l" rtl="0">
              <a:spcBef>
                <a:spcPts val="0"/>
              </a:spcBef>
              <a:spcAft>
                <a:spcPts val="0"/>
              </a:spcAft>
              <a:buClr>
                <a:schemeClr val="lt1"/>
              </a:buClr>
              <a:buSzPts val="1800"/>
              <a:buFont typeface="Arial"/>
              <a:buChar char="•"/>
            </a:pPr>
            <a:r>
              <a:rPr lang="en-US" sz="1800" b="0" i="0" u="none" strike="noStrike" cap="none">
                <a:solidFill>
                  <a:schemeClr val="lt1"/>
                </a:solidFill>
                <a:latin typeface="Century Gothic"/>
                <a:ea typeface="Century Gothic"/>
                <a:cs typeface="Century Gothic"/>
                <a:sym typeface="Century Gothic"/>
              </a:rPr>
              <a:t>Comparison with teams like CSK and MI shows that strong home performance correlates with better overall standings.</a:t>
            </a:r>
            <a:endParaRPr/>
          </a:p>
          <a:p>
            <a:pPr marL="742950" marR="0" lvl="1" indent="-285750" algn="l" rtl="0">
              <a:spcBef>
                <a:spcPts val="0"/>
              </a:spcBef>
              <a:spcAft>
                <a:spcPts val="0"/>
              </a:spcAft>
              <a:buClr>
                <a:schemeClr val="lt1"/>
              </a:buClr>
              <a:buSzPts val="1800"/>
              <a:buFont typeface="Arial"/>
              <a:buChar char="•"/>
            </a:pPr>
            <a:r>
              <a:rPr lang="en-US" sz="1800" b="0" i="0" u="none" strike="noStrike" cap="none">
                <a:solidFill>
                  <a:schemeClr val="lt1"/>
                </a:solidFill>
                <a:latin typeface="Century Gothic"/>
                <a:ea typeface="Century Gothic"/>
                <a:cs typeface="Century Gothic"/>
                <a:sym typeface="Century Gothic"/>
              </a:rPr>
              <a:t>RCB has had better results in chasing games at home, with a strong batting lineup taking advantage of the pitch.</a:t>
            </a:r>
            <a:endParaRPr/>
          </a:p>
        </p:txBody>
      </p:sp>
      <p:sp>
        <p:nvSpPr>
          <p:cNvPr id="226" name="Google Shape;226;p28"/>
          <p:cNvSpPr/>
          <p:nvPr/>
        </p:nvSpPr>
        <p:spPr>
          <a:xfrm>
            <a:off x="2717424" y="307910"/>
            <a:ext cx="6018244" cy="7757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lgerian"/>
                <a:ea typeface="Algerian"/>
                <a:cs typeface="Algerian"/>
                <a:sym typeface="Algerian"/>
              </a:rPr>
              <a:t>Analysis &amp; Key finding</a:t>
            </a:r>
            <a:endParaRPr sz="3600" b="1">
              <a:solidFill>
                <a:schemeClr val="lt1"/>
              </a:solidFill>
              <a:latin typeface="Algerian"/>
              <a:ea typeface="Algerian"/>
              <a:cs typeface="Algerian"/>
              <a:sym typeface="Algerian"/>
            </a:endParaRPr>
          </a:p>
        </p:txBody>
      </p:sp>
      <p:sp>
        <p:nvSpPr>
          <p:cNvPr id="227" name="Google Shape;227;p28"/>
          <p:cNvSpPr txBox="1"/>
          <p:nvPr/>
        </p:nvSpPr>
        <p:spPr>
          <a:xfrm>
            <a:off x="6618875" y="1280300"/>
            <a:ext cx="5392500" cy="476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lt1"/>
              </a:solidFill>
              <a:latin typeface="Century Gothic"/>
              <a:ea typeface="Century Gothic"/>
              <a:cs typeface="Century Gothic"/>
              <a:sym typeface="Century Gothic"/>
            </a:endParaRPr>
          </a:p>
        </p:txBody>
      </p:sp>
      <p:pic>
        <p:nvPicPr>
          <p:cNvPr id="228" name="Google Shape;228;p28" title="Chart"/>
          <p:cNvPicPr preferRelativeResize="0"/>
          <p:nvPr/>
        </p:nvPicPr>
        <p:blipFill rotWithShape="1">
          <a:blip r:embed="rId5">
            <a:alphaModFix/>
          </a:blip>
          <a:srcRect l="8935" r="4649"/>
          <a:stretch/>
        </p:blipFill>
        <p:spPr>
          <a:xfrm>
            <a:off x="6960800" y="1485500"/>
            <a:ext cx="5158149" cy="4043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2"/>
        <p:cNvGrpSpPr/>
        <p:nvPr/>
      </p:nvGrpSpPr>
      <p:grpSpPr>
        <a:xfrm>
          <a:off x="0" y="0"/>
          <a:ext cx="0" cy="0"/>
          <a:chOff x="0" y="0"/>
          <a:chExt cx="0" cy="0"/>
        </a:xfrm>
      </p:grpSpPr>
      <p:pic>
        <p:nvPicPr>
          <p:cNvPr id="233" name="Google Shape;233;p29"/>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234" name="Google Shape;234;p29"/>
          <p:cNvSpPr/>
          <p:nvPr/>
        </p:nvSpPr>
        <p:spPr>
          <a:xfrm>
            <a:off x="126850" y="1011000"/>
            <a:ext cx="5876700" cy="5664900"/>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chemeClr val="lt1"/>
              </a:buClr>
              <a:buSzPts val="1800"/>
              <a:buFont typeface="Century Gothic"/>
              <a:buAutoNum type="arabicPeriod" startAt="3"/>
            </a:pPr>
            <a:r>
              <a:rPr lang="en-US" sz="1800" b="1">
                <a:solidFill>
                  <a:schemeClr val="lt1"/>
                </a:solidFill>
                <a:latin typeface="Century Gothic"/>
                <a:ea typeface="Century Gothic"/>
                <a:cs typeface="Century Gothic"/>
                <a:sym typeface="Century Gothic"/>
              </a:rPr>
              <a:t>Top Versatile Players</a:t>
            </a:r>
            <a:endParaRPr/>
          </a:p>
          <a:p>
            <a:pPr marL="0" marR="0" lvl="0" indent="0" algn="l" rtl="0">
              <a:spcBef>
                <a:spcPts val="0"/>
              </a:spcBef>
              <a:spcAft>
                <a:spcPts val="0"/>
              </a:spcAft>
              <a:buNone/>
            </a:pPr>
            <a:endParaRPr sz="1800" b="1">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Objective:</a:t>
            </a:r>
            <a:r>
              <a:rPr lang="en-US" sz="1800">
                <a:solidFill>
                  <a:schemeClr val="lt1"/>
                </a:solidFill>
                <a:latin typeface="Century Gothic"/>
                <a:ea typeface="Century Gothic"/>
                <a:cs typeface="Century Gothic"/>
                <a:sym typeface="Century Gothic"/>
              </a:rPr>
              <a:t> </a:t>
            </a:r>
            <a:endParaRPr/>
          </a:p>
          <a:p>
            <a:pPr marL="0" marR="0" lvl="0" indent="-1143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Identify players who contribute effectively in both batting and bowling.</a:t>
            </a:r>
            <a:endParaRPr/>
          </a:p>
          <a:p>
            <a:pPr marL="0" marR="0" lvl="0" indent="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Analysis:</a:t>
            </a:r>
            <a:r>
              <a:rPr lang="en-US" sz="1800">
                <a:solidFill>
                  <a:schemeClr val="lt1"/>
                </a:solidFill>
                <a:latin typeface="Century Gothic"/>
                <a:ea typeface="Century Gothic"/>
                <a:cs typeface="Century Gothic"/>
                <a:sym typeface="Century Gothic"/>
              </a:rPr>
              <a:t> </a:t>
            </a:r>
            <a:endParaRPr/>
          </a:p>
          <a:p>
            <a:pPr marL="0" marR="0" lvl="0" indent="-1143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Players with high total runs and wicket counts were analyzed for all-round performance.</a:t>
            </a:r>
            <a:endParaRPr/>
          </a:p>
          <a:p>
            <a:pPr marL="0" marR="0" lvl="0" indent="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Insights:</a:t>
            </a:r>
            <a:endParaRPr sz="1800">
              <a:solidFill>
                <a:schemeClr val="lt1"/>
              </a:solidFill>
              <a:latin typeface="Century Gothic"/>
              <a:ea typeface="Century Gothic"/>
              <a:cs typeface="Century Gothic"/>
              <a:sym typeface="Century Gothic"/>
            </a:endParaRPr>
          </a:p>
          <a:p>
            <a:pPr marL="914400" lvl="1" indent="-342900" algn="l" rtl="0">
              <a:lnSpc>
                <a:spcPct val="115000"/>
              </a:lnSpc>
              <a:spcBef>
                <a:spcPts val="1200"/>
              </a:spcBef>
              <a:spcAft>
                <a:spcPts val="0"/>
              </a:spcAft>
              <a:buClr>
                <a:schemeClr val="lt1"/>
              </a:buClr>
              <a:buSzPts val="1800"/>
              <a:buChar char="•"/>
            </a:pPr>
            <a:r>
              <a:rPr lang="en-US" sz="1800">
                <a:solidFill>
                  <a:schemeClr val="lt1"/>
                </a:solidFill>
                <a:latin typeface="Century Gothic"/>
                <a:ea typeface="Century Gothic"/>
                <a:cs typeface="Century Gothic"/>
                <a:sym typeface="Century Gothic"/>
              </a:rPr>
              <a:t>SR Watson and SK Raina delivered over 900 runs, 29 wickets, and strike rates above 130, proving their all-round consistency.</a:t>
            </a:r>
            <a:endParaRPr sz="1800">
              <a:solidFill>
                <a:schemeClr val="lt1"/>
              </a:solidFill>
              <a:latin typeface="Century Gothic"/>
              <a:ea typeface="Century Gothic"/>
              <a:cs typeface="Century Gothic"/>
              <a:sym typeface="Century Gothic"/>
            </a:endParaRPr>
          </a:p>
          <a:p>
            <a:pPr marL="914400" lvl="1" indent="-342900" algn="l" rtl="0">
              <a:lnSpc>
                <a:spcPct val="115000"/>
              </a:lnSpc>
              <a:spcBef>
                <a:spcPts val="0"/>
              </a:spcBef>
              <a:spcAft>
                <a:spcPts val="0"/>
              </a:spcAft>
              <a:buClr>
                <a:schemeClr val="lt1"/>
              </a:buClr>
              <a:buSzPts val="1800"/>
              <a:buChar char="•"/>
            </a:pPr>
            <a:r>
              <a:rPr lang="en-US" sz="1800">
                <a:solidFill>
                  <a:schemeClr val="lt1"/>
                </a:solidFill>
                <a:latin typeface="Century Gothic"/>
                <a:ea typeface="Century Gothic"/>
                <a:cs typeface="Century Gothic"/>
                <a:sym typeface="Century Gothic"/>
              </a:rPr>
              <a:t>Pollard (144.63 SR) and Maxwell (167.78 SR) added value with explosive batting and handy bowling contributions.</a:t>
            </a:r>
            <a:endParaRPr sz="1800">
              <a:solidFill>
                <a:schemeClr val="lt1"/>
              </a:solidFill>
              <a:latin typeface="Century Gothic"/>
              <a:ea typeface="Century Gothic"/>
              <a:cs typeface="Century Gothic"/>
              <a:sym typeface="Century Gothic"/>
            </a:endParaRPr>
          </a:p>
          <a:p>
            <a:pPr marL="914400" lvl="1" indent="-342900" algn="l" rtl="0">
              <a:lnSpc>
                <a:spcPct val="115000"/>
              </a:lnSpc>
              <a:spcBef>
                <a:spcPts val="0"/>
              </a:spcBef>
              <a:spcAft>
                <a:spcPts val="0"/>
              </a:spcAft>
              <a:buClr>
                <a:schemeClr val="lt1"/>
              </a:buClr>
              <a:buSzPts val="1800"/>
              <a:buChar char="•"/>
            </a:pPr>
            <a:r>
              <a:rPr lang="en-US" sz="1800">
                <a:solidFill>
                  <a:schemeClr val="lt1"/>
                </a:solidFill>
                <a:latin typeface="Century Gothic"/>
                <a:ea typeface="Century Gothic"/>
                <a:cs typeface="Century Gothic"/>
                <a:sym typeface="Century Gothic"/>
              </a:rPr>
              <a:t>Such players offer RCB crucial flexibility, impacting both innings and helping shift momentum in tight matches.</a:t>
            </a:r>
            <a:endParaRPr sz="1800">
              <a:solidFill>
                <a:schemeClr val="lt1"/>
              </a:solidFill>
              <a:latin typeface="Century Gothic"/>
              <a:ea typeface="Century Gothic"/>
              <a:cs typeface="Century Gothic"/>
              <a:sym typeface="Century Gothic"/>
            </a:endParaRPr>
          </a:p>
          <a:p>
            <a:pPr marL="742950" marR="0" lvl="1" indent="-285750" algn="l" rtl="0">
              <a:spcBef>
                <a:spcPts val="0"/>
              </a:spcBef>
              <a:spcAft>
                <a:spcPts val="0"/>
              </a:spcAft>
              <a:buClr>
                <a:schemeClr val="lt1"/>
              </a:buClr>
              <a:buSzPts val="1800"/>
              <a:buFont typeface="Century Gothic"/>
              <a:buChar char="•"/>
            </a:pPr>
            <a:endParaRPr sz="1800">
              <a:solidFill>
                <a:schemeClr val="lt1"/>
              </a:solidFill>
              <a:latin typeface="Century Gothic"/>
              <a:ea typeface="Century Gothic"/>
              <a:cs typeface="Century Gothic"/>
              <a:sym typeface="Century Gothic"/>
            </a:endParaRPr>
          </a:p>
        </p:txBody>
      </p:sp>
      <p:sp>
        <p:nvSpPr>
          <p:cNvPr id="235" name="Google Shape;235;p29"/>
          <p:cNvSpPr/>
          <p:nvPr/>
        </p:nvSpPr>
        <p:spPr>
          <a:xfrm>
            <a:off x="3086878" y="182153"/>
            <a:ext cx="6018244" cy="7757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lgerian"/>
                <a:ea typeface="Algerian"/>
                <a:cs typeface="Algerian"/>
                <a:sym typeface="Algerian"/>
              </a:rPr>
              <a:t>Analysis &amp; Key finding</a:t>
            </a:r>
            <a:endParaRPr sz="3600" b="1">
              <a:solidFill>
                <a:schemeClr val="lt1"/>
              </a:solidFill>
              <a:latin typeface="Algerian"/>
              <a:ea typeface="Algerian"/>
              <a:cs typeface="Algerian"/>
              <a:sym typeface="Algerian"/>
            </a:endParaRPr>
          </a:p>
        </p:txBody>
      </p:sp>
      <p:sp>
        <p:nvSpPr>
          <p:cNvPr id="236" name="Google Shape;236;p29"/>
          <p:cNvSpPr txBox="1"/>
          <p:nvPr/>
        </p:nvSpPr>
        <p:spPr>
          <a:xfrm>
            <a:off x="6761950" y="1068075"/>
            <a:ext cx="5209800" cy="516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lt1"/>
              </a:solidFill>
              <a:latin typeface="Century Gothic"/>
              <a:ea typeface="Century Gothic"/>
              <a:cs typeface="Century Gothic"/>
              <a:sym typeface="Century Gothic"/>
            </a:endParaRPr>
          </a:p>
        </p:txBody>
      </p:sp>
      <p:sp>
        <p:nvSpPr>
          <p:cNvPr id="237" name="Google Shape;237;p29"/>
          <p:cNvSpPr txBox="1"/>
          <p:nvPr/>
        </p:nvSpPr>
        <p:spPr>
          <a:xfrm>
            <a:off x="6697025" y="1192375"/>
            <a:ext cx="5209800" cy="492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lt1"/>
              </a:solidFill>
              <a:latin typeface="Century Gothic"/>
              <a:ea typeface="Century Gothic"/>
              <a:cs typeface="Century Gothic"/>
              <a:sym typeface="Century Gothic"/>
            </a:endParaRPr>
          </a:p>
        </p:txBody>
      </p:sp>
      <p:pic>
        <p:nvPicPr>
          <p:cNvPr id="238" name="Google Shape;238;p29" title="Chart"/>
          <p:cNvPicPr preferRelativeResize="0"/>
          <p:nvPr/>
        </p:nvPicPr>
        <p:blipFill rotWithShape="1">
          <a:blip r:embed="rId5">
            <a:alphaModFix/>
          </a:blip>
          <a:srcRect l="-1840" t="-3682" r="1839" b="-3682"/>
          <a:stretch/>
        </p:blipFill>
        <p:spPr>
          <a:xfrm>
            <a:off x="5944800" y="957875"/>
            <a:ext cx="6096000" cy="5339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2"/>
        <p:cNvGrpSpPr/>
        <p:nvPr/>
      </p:nvGrpSpPr>
      <p:grpSpPr>
        <a:xfrm>
          <a:off x="0" y="0"/>
          <a:ext cx="0" cy="0"/>
          <a:chOff x="0" y="0"/>
          <a:chExt cx="0" cy="0"/>
        </a:xfrm>
      </p:grpSpPr>
      <p:pic>
        <p:nvPicPr>
          <p:cNvPr id="243" name="Google Shape;243;p30"/>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244" name="Google Shape;244;p30"/>
          <p:cNvSpPr/>
          <p:nvPr/>
        </p:nvSpPr>
        <p:spPr>
          <a:xfrm>
            <a:off x="163803" y="1483567"/>
            <a:ext cx="6348963" cy="5234474"/>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chemeClr val="lt1"/>
              </a:buClr>
              <a:buSzPts val="1800"/>
              <a:buFont typeface="Century Gothic"/>
              <a:buAutoNum type="arabicPeriod" startAt="4"/>
            </a:pPr>
            <a:r>
              <a:rPr lang="en-US" sz="1800" b="1">
                <a:solidFill>
                  <a:schemeClr val="lt1"/>
                </a:solidFill>
                <a:latin typeface="Century Gothic"/>
                <a:ea typeface="Century Gothic"/>
                <a:cs typeface="Century Gothic"/>
                <a:sym typeface="Century Gothic"/>
              </a:rPr>
              <a:t>Impact of Toss Decision</a:t>
            </a:r>
            <a:endParaRPr/>
          </a:p>
          <a:p>
            <a:pPr marL="0" marR="0" lvl="0" indent="0" algn="l" rtl="0">
              <a:spcBef>
                <a:spcPts val="0"/>
              </a:spcBef>
              <a:spcAft>
                <a:spcPts val="0"/>
              </a:spcAft>
              <a:buNone/>
            </a:pPr>
            <a:endParaRPr sz="1800" b="1">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Objective:</a:t>
            </a:r>
            <a:r>
              <a:rPr lang="en-US" sz="1800">
                <a:solidFill>
                  <a:schemeClr val="lt1"/>
                </a:solidFill>
                <a:latin typeface="Century Gothic"/>
                <a:ea typeface="Century Gothic"/>
                <a:cs typeface="Century Gothic"/>
                <a:sym typeface="Century Gothic"/>
              </a:rPr>
              <a:t> </a:t>
            </a:r>
            <a:endParaRPr/>
          </a:p>
          <a:p>
            <a:pPr marL="0" marR="0" lvl="0" indent="-1143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Analyze the influence of toss decisions (batting first or chasing) on match outcomes.</a:t>
            </a:r>
            <a:endParaRPr/>
          </a:p>
          <a:p>
            <a:pPr marL="0" marR="0" lvl="0" indent="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Analysis:</a:t>
            </a:r>
            <a:r>
              <a:rPr lang="en-US" sz="1800">
                <a:solidFill>
                  <a:schemeClr val="lt1"/>
                </a:solidFill>
                <a:latin typeface="Century Gothic"/>
                <a:ea typeface="Century Gothic"/>
                <a:cs typeface="Century Gothic"/>
                <a:sym typeface="Century Gothic"/>
              </a:rPr>
              <a:t> </a:t>
            </a:r>
            <a:endParaRPr/>
          </a:p>
          <a:p>
            <a:pPr marL="0" marR="0" lvl="0" indent="-1143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Compared win/loss ratios for teams that chose to bat first versus those that chased.</a:t>
            </a:r>
            <a:endParaRPr/>
          </a:p>
          <a:p>
            <a:pPr marL="0" marR="0" lvl="0" indent="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Insights:</a:t>
            </a:r>
            <a:endParaRPr sz="1800">
              <a:solidFill>
                <a:schemeClr val="lt1"/>
              </a:solidFill>
              <a:latin typeface="Century Gothic"/>
              <a:ea typeface="Century Gothic"/>
              <a:cs typeface="Century Gothic"/>
              <a:sym typeface="Century Gothic"/>
            </a:endParaRPr>
          </a:p>
          <a:p>
            <a:pPr marL="742950" marR="0" lvl="1" indent="-285750" algn="l" rtl="0">
              <a:spcBef>
                <a:spcPts val="0"/>
              </a:spcBef>
              <a:spcAft>
                <a:spcPts val="0"/>
              </a:spcAft>
              <a:buClr>
                <a:schemeClr val="lt1"/>
              </a:buClr>
              <a:buSzPts val="1800"/>
              <a:buFont typeface="Arial"/>
              <a:buChar char="•"/>
            </a:pPr>
            <a:r>
              <a:rPr lang="en-US" sz="1800" b="0" i="0" u="none" strike="noStrike" cap="none">
                <a:solidFill>
                  <a:schemeClr val="lt1"/>
                </a:solidFill>
                <a:latin typeface="Century Gothic"/>
                <a:ea typeface="Century Gothic"/>
                <a:cs typeface="Century Gothic"/>
                <a:sym typeface="Century Gothic"/>
              </a:rPr>
              <a:t>Teams opting to chase generally have a higher win rate, especially at venues like M. Chinnaswamy with smaller boundaries.</a:t>
            </a:r>
            <a:endParaRPr/>
          </a:p>
          <a:p>
            <a:pPr marL="742950" marR="0" lvl="1" indent="-285750" algn="l" rtl="0">
              <a:spcBef>
                <a:spcPts val="0"/>
              </a:spcBef>
              <a:spcAft>
                <a:spcPts val="0"/>
              </a:spcAft>
              <a:buClr>
                <a:schemeClr val="lt1"/>
              </a:buClr>
              <a:buSzPts val="1800"/>
              <a:buFont typeface="Arial"/>
              <a:buChar char="•"/>
            </a:pPr>
            <a:r>
              <a:rPr lang="en-US" sz="1800" b="0" i="0" u="none" strike="noStrike" cap="none">
                <a:solidFill>
                  <a:schemeClr val="lt1"/>
                </a:solidFill>
                <a:latin typeface="Century Gothic"/>
                <a:ea typeface="Century Gothic"/>
                <a:cs typeface="Century Gothic"/>
                <a:sym typeface="Century Gothic"/>
              </a:rPr>
              <a:t>RCB performs better when chasing, highlighting the importance of winning the toss and strategic decision-making.</a:t>
            </a:r>
            <a:endParaRPr/>
          </a:p>
          <a:p>
            <a:pPr marL="742950" marR="0" lvl="1" indent="-285750" algn="l" rtl="0">
              <a:spcBef>
                <a:spcPts val="0"/>
              </a:spcBef>
              <a:spcAft>
                <a:spcPts val="0"/>
              </a:spcAft>
              <a:buClr>
                <a:schemeClr val="lt1"/>
              </a:buClr>
              <a:buSzPts val="1800"/>
              <a:buFont typeface="Arial"/>
              <a:buChar char="•"/>
            </a:pPr>
            <a:r>
              <a:rPr lang="en-US" sz="1800" b="0" i="0" u="none" strike="noStrike" cap="none">
                <a:solidFill>
                  <a:schemeClr val="lt1"/>
                </a:solidFill>
                <a:latin typeface="Century Gothic"/>
                <a:ea typeface="Century Gothic"/>
                <a:cs typeface="Century Gothic"/>
                <a:sym typeface="Century Gothic"/>
              </a:rPr>
              <a:t>Toss decision impacts performance significantly at high-scoring venues.</a:t>
            </a:r>
            <a:endParaRPr/>
          </a:p>
        </p:txBody>
      </p:sp>
      <p:sp>
        <p:nvSpPr>
          <p:cNvPr id="245" name="Google Shape;245;p30"/>
          <p:cNvSpPr/>
          <p:nvPr/>
        </p:nvSpPr>
        <p:spPr>
          <a:xfrm>
            <a:off x="2615823" y="238197"/>
            <a:ext cx="6018244" cy="7757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lgerian"/>
                <a:ea typeface="Algerian"/>
                <a:cs typeface="Algerian"/>
                <a:sym typeface="Algerian"/>
              </a:rPr>
              <a:t>Analysis &amp; Key finding</a:t>
            </a:r>
            <a:endParaRPr sz="3600" b="1">
              <a:solidFill>
                <a:schemeClr val="lt1"/>
              </a:solidFill>
              <a:latin typeface="Algerian"/>
              <a:ea typeface="Algerian"/>
              <a:cs typeface="Algerian"/>
              <a:sym typeface="Algerian"/>
            </a:endParaRPr>
          </a:p>
        </p:txBody>
      </p:sp>
      <p:sp>
        <p:nvSpPr>
          <p:cNvPr id="246" name="Google Shape;246;p30"/>
          <p:cNvSpPr txBox="1"/>
          <p:nvPr/>
        </p:nvSpPr>
        <p:spPr>
          <a:xfrm>
            <a:off x="6325800" y="1221700"/>
            <a:ext cx="5763900" cy="506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lt1"/>
              </a:solidFill>
              <a:latin typeface="Century Gothic"/>
              <a:ea typeface="Century Gothic"/>
              <a:cs typeface="Century Gothic"/>
              <a:sym typeface="Century Gothic"/>
            </a:endParaRPr>
          </a:p>
        </p:txBody>
      </p:sp>
      <p:pic>
        <p:nvPicPr>
          <p:cNvPr id="247" name="Google Shape;247;p30" title="Chart"/>
          <p:cNvPicPr preferRelativeResize="0"/>
          <p:nvPr/>
        </p:nvPicPr>
        <p:blipFill rotWithShape="1">
          <a:blip r:embed="rId5">
            <a:alphaModFix/>
          </a:blip>
          <a:srcRect/>
          <a:stretch/>
        </p:blipFill>
        <p:spPr>
          <a:xfrm>
            <a:off x="6399300" y="1407325"/>
            <a:ext cx="5690401" cy="4043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1"/>
        <p:cNvGrpSpPr/>
        <p:nvPr/>
      </p:nvGrpSpPr>
      <p:grpSpPr>
        <a:xfrm>
          <a:off x="0" y="0"/>
          <a:ext cx="0" cy="0"/>
          <a:chOff x="0" y="0"/>
          <a:chExt cx="0" cy="0"/>
        </a:xfrm>
      </p:grpSpPr>
      <p:pic>
        <p:nvPicPr>
          <p:cNvPr id="252" name="Google Shape;252;p31"/>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253" name="Google Shape;253;p31"/>
          <p:cNvSpPr/>
          <p:nvPr/>
        </p:nvSpPr>
        <p:spPr>
          <a:xfrm>
            <a:off x="163803" y="1483567"/>
            <a:ext cx="6348963" cy="5234474"/>
          </a:xfrm>
          <a:prstGeom prst="rect">
            <a:avLst/>
          </a:prstGeom>
          <a:noFill/>
          <a:ln>
            <a:noFill/>
          </a:ln>
        </p:spPr>
        <p:txBody>
          <a:bodyPr spcFirstLastPara="1" wrap="square" lIns="91425" tIns="45700" rIns="91425" bIns="45700" anchor="ctr" anchorCtr="0">
            <a:noAutofit/>
          </a:bodyPr>
          <a:lstStyle/>
          <a:p>
            <a:pPr marL="342900" marR="0" lvl="0" indent="-342900" algn="l" rtl="0">
              <a:spcBef>
                <a:spcPts val="0"/>
              </a:spcBef>
              <a:spcAft>
                <a:spcPts val="0"/>
              </a:spcAft>
              <a:buClr>
                <a:schemeClr val="lt1"/>
              </a:buClr>
              <a:buSzPts val="1800"/>
              <a:buFont typeface="Century Gothic"/>
              <a:buAutoNum type="arabicPeriod" startAt="5"/>
            </a:pPr>
            <a:r>
              <a:rPr lang="en-US" sz="1800" b="1">
                <a:solidFill>
                  <a:schemeClr val="lt1"/>
                </a:solidFill>
                <a:latin typeface="Century Gothic"/>
                <a:ea typeface="Century Gothic"/>
                <a:cs typeface="Century Gothic"/>
                <a:sym typeface="Century Gothic"/>
              </a:rPr>
              <a:t>Boundary Frequency</a:t>
            </a:r>
            <a:endParaRPr/>
          </a:p>
          <a:p>
            <a:pPr marL="0" marR="0" lvl="0" indent="0" algn="l" rtl="0">
              <a:spcBef>
                <a:spcPts val="0"/>
              </a:spcBef>
              <a:spcAft>
                <a:spcPts val="0"/>
              </a:spcAft>
              <a:buNone/>
            </a:pPr>
            <a:endParaRPr sz="1800" b="1">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Objective:</a:t>
            </a:r>
            <a:r>
              <a:rPr lang="en-US" sz="1800">
                <a:solidFill>
                  <a:schemeClr val="lt1"/>
                </a:solidFill>
                <a:latin typeface="Century Gothic"/>
                <a:ea typeface="Century Gothic"/>
                <a:cs typeface="Century Gothic"/>
                <a:sym typeface="Century Gothic"/>
              </a:rPr>
              <a:t> </a:t>
            </a:r>
            <a:endParaRPr/>
          </a:p>
          <a:p>
            <a:pPr marL="0" marR="0" lvl="0" indent="-1143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Determine which players hit boundaries most frequently and assess their impact on scoring rates.</a:t>
            </a:r>
            <a:endParaRPr/>
          </a:p>
          <a:p>
            <a:pPr marL="0" marR="0" lvl="0" indent="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Analysis:</a:t>
            </a:r>
            <a:r>
              <a:rPr lang="en-US" sz="1800">
                <a:solidFill>
                  <a:schemeClr val="lt1"/>
                </a:solidFill>
                <a:latin typeface="Century Gothic"/>
                <a:ea typeface="Century Gothic"/>
                <a:cs typeface="Century Gothic"/>
                <a:sym typeface="Century Gothic"/>
              </a:rPr>
              <a:t> </a:t>
            </a:r>
            <a:endParaRPr/>
          </a:p>
          <a:p>
            <a:pPr marL="0" marR="0" lvl="0" indent="-114300" algn="l" rtl="0">
              <a:spcBef>
                <a:spcPts val="0"/>
              </a:spcBef>
              <a:spcAft>
                <a:spcPts val="0"/>
              </a:spcAft>
              <a:buClr>
                <a:schemeClr val="lt1"/>
              </a:buClr>
              <a:buSzPts val="1800"/>
              <a:buFont typeface="Arial"/>
              <a:buChar char="•"/>
            </a:pPr>
            <a:r>
              <a:rPr lang="en-US" sz="1800">
                <a:solidFill>
                  <a:schemeClr val="lt1"/>
                </a:solidFill>
                <a:latin typeface="Century Gothic"/>
                <a:ea typeface="Century Gothic"/>
                <a:cs typeface="Century Gothic"/>
                <a:sym typeface="Century Gothic"/>
              </a:rPr>
              <a:t>Calculated the boundary frequency for top batsmen based on balls faced.</a:t>
            </a:r>
            <a:endParaRPr/>
          </a:p>
          <a:p>
            <a:pPr marL="0" marR="0" lvl="0" indent="0" algn="l" rtl="0">
              <a:spcBef>
                <a:spcPts val="0"/>
              </a:spcBef>
              <a:spcAft>
                <a:spcPts val="0"/>
              </a:spcAft>
              <a:buClr>
                <a:schemeClr val="lt1"/>
              </a:buClr>
              <a:buSzPts val="1800"/>
              <a:buFont typeface="Arial"/>
              <a:buNone/>
            </a:pPr>
            <a:endParaRPr sz="18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a:solidFill>
                  <a:schemeClr val="lt1"/>
                </a:solidFill>
                <a:latin typeface="Century Gothic"/>
                <a:ea typeface="Century Gothic"/>
                <a:cs typeface="Century Gothic"/>
                <a:sym typeface="Century Gothic"/>
              </a:rPr>
              <a:t>Insights:</a:t>
            </a:r>
            <a:endParaRPr sz="1800">
              <a:solidFill>
                <a:schemeClr val="lt1"/>
              </a:solidFill>
              <a:latin typeface="Century Gothic"/>
              <a:ea typeface="Century Gothic"/>
              <a:cs typeface="Century Gothic"/>
              <a:sym typeface="Century Gothic"/>
            </a:endParaRPr>
          </a:p>
          <a:p>
            <a:pPr marL="742950" marR="0" lvl="1" indent="-285750" algn="l" rtl="0">
              <a:spcBef>
                <a:spcPts val="0"/>
              </a:spcBef>
              <a:spcAft>
                <a:spcPts val="0"/>
              </a:spcAft>
              <a:buClr>
                <a:schemeClr val="lt1"/>
              </a:buClr>
              <a:buSzPts val="1800"/>
              <a:buFont typeface="Arial"/>
              <a:buChar char="•"/>
            </a:pPr>
            <a:r>
              <a:rPr lang="en-US" sz="1800" b="0" i="0" u="none" strike="noStrike" cap="none">
                <a:solidFill>
                  <a:schemeClr val="lt1"/>
                </a:solidFill>
                <a:latin typeface="Century Gothic"/>
                <a:ea typeface="Century Gothic"/>
                <a:cs typeface="Century Gothic"/>
                <a:sym typeface="Century Gothic"/>
              </a:rPr>
              <a:t>Power hitters like Chris Gayle and Virat Kohli top the list with a high frequency of boundaries per ball faced.</a:t>
            </a:r>
            <a:endParaRPr/>
          </a:p>
          <a:p>
            <a:pPr marL="742950" marR="0" lvl="1" indent="-285750" algn="l" rtl="0">
              <a:spcBef>
                <a:spcPts val="0"/>
              </a:spcBef>
              <a:spcAft>
                <a:spcPts val="0"/>
              </a:spcAft>
              <a:buClr>
                <a:schemeClr val="lt1"/>
              </a:buClr>
              <a:buSzPts val="1800"/>
              <a:buFont typeface="Arial"/>
              <a:buChar char="•"/>
            </a:pPr>
            <a:r>
              <a:rPr lang="en-US" sz="1800" b="0" i="0" u="none" strike="noStrike" cap="none">
                <a:solidFill>
                  <a:schemeClr val="lt1"/>
                </a:solidFill>
                <a:latin typeface="Century Gothic"/>
                <a:ea typeface="Century Gothic"/>
                <a:cs typeface="Century Gothic"/>
                <a:sym typeface="Century Gothic"/>
              </a:rPr>
              <a:t>Players who hit boundaries consistently tend to build rapid scoring momentum, crucial in shorter formats like T20.</a:t>
            </a:r>
            <a:endParaRPr/>
          </a:p>
          <a:p>
            <a:pPr marL="742950" marR="0" lvl="1" indent="-285750" algn="l" rtl="0">
              <a:spcBef>
                <a:spcPts val="0"/>
              </a:spcBef>
              <a:spcAft>
                <a:spcPts val="0"/>
              </a:spcAft>
              <a:buClr>
                <a:schemeClr val="lt1"/>
              </a:buClr>
              <a:buSzPts val="1800"/>
              <a:buFont typeface="Arial"/>
              <a:buChar char="•"/>
            </a:pPr>
            <a:r>
              <a:rPr lang="en-US" sz="1800" b="0" i="0" u="none" strike="noStrike" cap="none">
                <a:solidFill>
                  <a:schemeClr val="lt1"/>
                </a:solidFill>
                <a:latin typeface="Century Gothic"/>
                <a:ea typeface="Century Gothic"/>
                <a:cs typeface="Century Gothic"/>
                <a:sym typeface="Century Gothic"/>
              </a:rPr>
              <a:t>RCB can leverage such players to dominate power plays and death overs with aggressive hitting.</a:t>
            </a:r>
            <a:endParaRPr/>
          </a:p>
          <a:p>
            <a:pPr marL="742950" marR="0" lvl="1" indent="-171450" algn="l" rtl="0">
              <a:spcBef>
                <a:spcPts val="0"/>
              </a:spcBef>
              <a:spcAft>
                <a:spcPts val="0"/>
              </a:spcAft>
              <a:buClr>
                <a:schemeClr val="lt1"/>
              </a:buClr>
              <a:buSzPts val="1800"/>
              <a:buFont typeface="Arial"/>
              <a:buNone/>
            </a:pPr>
            <a:endParaRPr sz="1800" b="0" i="0" u="none" strike="noStrike" cap="none">
              <a:solidFill>
                <a:schemeClr val="lt1"/>
              </a:solidFill>
              <a:latin typeface="Century Gothic"/>
              <a:ea typeface="Century Gothic"/>
              <a:cs typeface="Century Gothic"/>
              <a:sym typeface="Century Gothic"/>
            </a:endParaRPr>
          </a:p>
        </p:txBody>
      </p:sp>
      <p:sp>
        <p:nvSpPr>
          <p:cNvPr id="254" name="Google Shape;254;p31"/>
          <p:cNvSpPr/>
          <p:nvPr/>
        </p:nvSpPr>
        <p:spPr>
          <a:xfrm>
            <a:off x="3086878" y="182153"/>
            <a:ext cx="6018244" cy="7757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lt1"/>
                </a:solidFill>
                <a:latin typeface="Algerian"/>
                <a:ea typeface="Algerian"/>
                <a:cs typeface="Algerian"/>
                <a:sym typeface="Algerian"/>
              </a:rPr>
              <a:t>Analysis &amp; Key finding</a:t>
            </a:r>
            <a:endParaRPr sz="3600" b="1">
              <a:solidFill>
                <a:schemeClr val="lt1"/>
              </a:solidFill>
              <a:latin typeface="Algerian"/>
              <a:ea typeface="Algerian"/>
              <a:cs typeface="Algerian"/>
              <a:sym typeface="Algerian"/>
            </a:endParaRPr>
          </a:p>
        </p:txBody>
      </p:sp>
      <p:sp>
        <p:nvSpPr>
          <p:cNvPr id="255" name="Google Shape;255;p31"/>
          <p:cNvSpPr txBox="1"/>
          <p:nvPr/>
        </p:nvSpPr>
        <p:spPr>
          <a:xfrm>
            <a:off x="6882650" y="1280300"/>
            <a:ext cx="4982400" cy="512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lt1"/>
              </a:solidFill>
              <a:latin typeface="Century Gothic"/>
              <a:ea typeface="Century Gothic"/>
              <a:cs typeface="Century Gothic"/>
              <a:sym typeface="Century Gothic"/>
            </a:endParaRPr>
          </a:p>
          <a:p>
            <a:pPr marL="0" lvl="0" indent="0" algn="l" rtl="0">
              <a:spcBef>
                <a:spcPts val="0"/>
              </a:spcBef>
              <a:spcAft>
                <a:spcPts val="0"/>
              </a:spcAft>
              <a:buNone/>
            </a:pPr>
            <a:endParaRPr sz="2000">
              <a:solidFill>
                <a:schemeClr val="lt1"/>
              </a:solidFill>
              <a:latin typeface="Century Gothic"/>
              <a:ea typeface="Century Gothic"/>
              <a:cs typeface="Century Gothic"/>
              <a:sym typeface="Century Gothic"/>
            </a:endParaRPr>
          </a:p>
        </p:txBody>
      </p:sp>
      <p:sp>
        <p:nvSpPr>
          <p:cNvPr id="256" name="Google Shape;256;p31"/>
          <p:cNvSpPr txBox="1"/>
          <p:nvPr/>
        </p:nvSpPr>
        <p:spPr>
          <a:xfrm>
            <a:off x="6550500" y="1417075"/>
            <a:ext cx="5402400" cy="469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lt1"/>
              </a:solidFill>
              <a:latin typeface="Century Gothic"/>
              <a:ea typeface="Century Gothic"/>
              <a:cs typeface="Century Gothic"/>
              <a:sym typeface="Century Gothic"/>
            </a:endParaRPr>
          </a:p>
        </p:txBody>
      </p:sp>
      <p:pic>
        <p:nvPicPr>
          <p:cNvPr id="257" name="Google Shape;257;p31" title="Chart"/>
          <p:cNvPicPr preferRelativeResize="0"/>
          <p:nvPr/>
        </p:nvPicPr>
        <p:blipFill>
          <a:blip r:embed="rId5">
            <a:alphaModFix/>
          </a:blip>
          <a:stretch>
            <a:fillRect/>
          </a:stretch>
        </p:blipFill>
        <p:spPr>
          <a:xfrm>
            <a:off x="6443025" y="1483575"/>
            <a:ext cx="5509876" cy="43003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1"/>
        <p:cNvGrpSpPr/>
        <p:nvPr/>
      </p:nvGrpSpPr>
      <p:grpSpPr>
        <a:xfrm>
          <a:off x="0" y="0"/>
          <a:ext cx="0" cy="0"/>
          <a:chOff x="0" y="0"/>
          <a:chExt cx="0" cy="0"/>
        </a:xfrm>
      </p:grpSpPr>
      <p:sp>
        <p:nvSpPr>
          <p:cNvPr id="262" name="Google Shape;262;p32"/>
          <p:cNvSpPr/>
          <p:nvPr/>
        </p:nvSpPr>
        <p:spPr>
          <a:xfrm>
            <a:off x="2472611" y="187518"/>
            <a:ext cx="7053943"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a:solidFill>
                  <a:schemeClr val="lt1"/>
                </a:solidFill>
                <a:latin typeface="Algerian"/>
                <a:ea typeface="Algerian"/>
                <a:cs typeface="Algerian"/>
                <a:sym typeface="Algerian"/>
              </a:rPr>
              <a:t>Strategic Recommendations</a:t>
            </a:r>
            <a:endParaRPr/>
          </a:p>
        </p:txBody>
      </p:sp>
      <p:pic>
        <p:nvPicPr>
          <p:cNvPr id="263" name="Google Shape;263;p32"/>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264" name="Google Shape;264;p32"/>
          <p:cNvSpPr txBox="1"/>
          <p:nvPr/>
        </p:nvSpPr>
        <p:spPr>
          <a:xfrm>
            <a:off x="1036435" y="1762542"/>
            <a:ext cx="9488496" cy="440120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lt1"/>
              </a:buClr>
              <a:buSzPts val="2000"/>
              <a:buFont typeface="Century Gothic"/>
              <a:buAutoNum type="arabicPeriod"/>
            </a:pPr>
            <a:r>
              <a:rPr lang="en-US" sz="2000" b="1">
                <a:solidFill>
                  <a:schemeClr val="lt1"/>
                </a:solidFill>
                <a:latin typeface="Century Gothic"/>
                <a:ea typeface="Century Gothic"/>
                <a:cs typeface="Century Gothic"/>
                <a:sym typeface="Century Gothic"/>
              </a:rPr>
              <a:t>Strengthening Death Over Strategy</a:t>
            </a:r>
            <a:endParaRPr/>
          </a:p>
          <a:p>
            <a:pPr marL="0" marR="0" lvl="0" indent="0" algn="l" rtl="0">
              <a:spcBef>
                <a:spcPts val="0"/>
              </a:spcBef>
              <a:spcAft>
                <a:spcPts val="0"/>
              </a:spcAft>
              <a:buNone/>
            </a:pPr>
            <a:endParaRPr sz="2000" b="1">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2000" b="1">
                <a:solidFill>
                  <a:schemeClr val="lt1"/>
                </a:solidFill>
                <a:latin typeface="Century Gothic"/>
                <a:ea typeface="Century Gothic"/>
                <a:cs typeface="Century Gothic"/>
                <a:sym typeface="Century Gothic"/>
              </a:rPr>
              <a:t>Insight:</a:t>
            </a:r>
            <a:r>
              <a:rPr lang="en-US" sz="2000">
                <a:solidFill>
                  <a:schemeClr val="lt1"/>
                </a:solidFill>
                <a:latin typeface="Century Gothic"/>
                <a:ea typeface="Century Gothic"/>
                <a:cs typeface="Century Gothic"/>
                <a:sym typeface="Century Gothic"/>
              </a:rPr>
              <a:t> </a:t>
            </a:r>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The death overs (16-20) are where matches can drastically shift, and RCB has faced challenges here, particularly in terms of bowling.</a:t>
            </a:r>
            <a:endParaRPr/>
          </a:p>
          <a:p>
            <a:pPr marL="0" marR="0" lvl="0" indent="0" algn="l" rtl="0">
              <a:spcBef>
                <a:spcPts val="0"/>
              </a:spcBef>
              <a:spcAft>
                <a:spcPts val="0"/>
              </a:spcAft>
              <a:buClr>
                <a:schemeClr val="lt1"/>
              </a:buClr>
              <a:buSzPts val="2000"/>
              <a:buFont typeface="Arial"/>
              <a:buNone/>
            </a:pPr>
            <a:endParaRPr sz="20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2000" b="1">
                <a:solidFill>
                  <a:schemeClr val="lt1"/>
                </a:solidFill>
                <a:latin typeface="Century Gothic"/>
                <a:ea typeface="Century Gothic"/>
                <a:cs typeface="Century Gothic"/>
                <a:sym typeface="Century Gothic"/>
              </a:rPr>
              <a:t>Recommendation:</a:t>
            </a:r>
            <a:endParaRPr sz="2000">
              <a:solidFill>
                <a:schemeClr val="lt1"/>
              </a:solidFill>
              <a:latin typeface="Century Gothic"/>
              <a:ea typeface="Century Gothic"/>
              <a:cs typeface="Century Gothic"/>
              <a:sym typeface="Century Gothic"/>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Prioritize acquiring death-over specialists like Jasprit Bumrah and Chris Morris to control the run flow.</a:t>
            </a:r>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Utilize bowlers with a proven record in the death overs to reduce the opponent’s scoring rate, focusing on tight yorkers and slower balls.</a:t>
            </a:r>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Focus on training existing bowlers like Mohammed Siraj and Harshal Patel to specialize in death-over strategies, leveraging their variations and pace.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8"/>
        <p:cNvGrpSpPr/>
        <p:nvPr/>
      </p:nvGrpSpPr>
      <p:grpSpPr>
        <a:xfrm>
          <a:off x="0" y="0"/>
          <a:ext cx="0" cy="0"/>
          <a:chOff x="0" y="0"/>
          <a:chExt cx="0" cy="0"/>
        </a:xfrm>
      </p:grpSpPr>
      <p:sp>
        <p:nvSpPr>
          <p:cNvPr id="269" name="Google Shape;269;p33"/>
          <p:cNvSpPr/>
          <p:nvPr/>
        </p:nvSpPr>
        <p:spPr>
          <a:xfrm>
            <a:off x="2472611" y="187518"/>
            <a:ext cx="7053943"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a:solidFill>
                  <a:schemeClr val="lt1"/>
                </a:solidFill>
                <a:latin typeface="Algerian"/>
                <a:ea typeface="Algerian"/>
                <a:cs typeface="Algerian"/>
                <a:sym typeface="Algerian"/>
              </a:rPr>
              <a:t>Strategic Recommendations</a:t>
            </a:r>
            <a:endParaRPr/>
          </a:p>
        </p:txBody>
      </p:sp>
      <p:pic>
        <p:nvPicPr>
          <p:cNvPr id="270" name="Google Shape;270;p33"/>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271" name="Google Shape;271;p33"/>
          <p:cNvSpPr txBox="1"/>
          <p:nvPr/>
        </p:nvSpPr>
        <p:spPr>
          <a:xfrm>
            <a:off x="1036435" y="1762542"/>
            <a:ext cx="9488496" cy="440120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lt1"/>
              </a:buClr>
              <a:buSzPts val="2000"/>
              <a:buFont typeface="Century Gothic"/>
              <a:buAutoNum type="arabicPeriod" startAt="2"/>
            </a:pPr>
            <a:r>
              <a:rPr lang="en-US" sz="2000" b="1">
                <a:solidFill>
                  <a:schemeClr val="lt1"/>
                </a:solidFill>
                <a:latin typeface="Century Gothic"/>
                <a:ea typeface="Century Gothic"/>
                <a:cs typeface="Century Gothic"/>
                <a:sym typeface="Century Gothic"/>
              </a:rPr>
              <a:t>Home Ground Advantage Utilization</a:t>
            </a:r>
            <a:endParaRPr/>
          </a:p>
          <a:p>
            <a:pPr marL="0" marR="0" lvl="0" indent="0" algn="l" rtl="0">
              <a:spcBef>
                <a:spcPts val="0"/>
              </a:spcBef>
              <a:spcAft>
                <a:spcPts val="0"/>
              </a:spcAft>
              <a:buNone/>
            </a:pPr>
            <a:endParaRPr sz="2000" b="1">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2000" b="1">
                <a:solidFill>
                  <a:schemeClr val="lt1"/>
                </a:solidFill>
                <a:latin typeface="Century Gothic"/>
                <a:ea typeface="Century Gothic"/>
                <a:cs typeface="Century Gothic"/>
                <a:sym typeface="Century Gothic"/>
              </a:rPr>
              <a:t>Insight:</a:t>
            </a:r>
            <a:r>
              <a:rPr lang="en-US" sz="2000">
                <a:solidFill>
                  <a:schemeClr val="lt1"/>
                </a:solidFill>
                <a:latin typeface="Century Gothic"/>
                <a:ea typeface="Century Gothic"/>
                <a:cs typeface="Century Gothic"/>
                <a:sym typeface="Century Gothic"/>
              </a:rPr>
              <a:t> </a:t>
            </a:r>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M. Chinnaswamy Stadium has a reputation as a high-scoring venue, favoring teams with explosive batsmen.</a:t>
            </a:r>
            <a:endParaRPr/>
          </a:p>
          <a:p>
            <a:pPr marL="0" marR="0" lvl="0" indent="0" algn="l" rtl="0">
              <a:spcBef>
                <a:spcPts val="0"/>
              </a:spcBef>
              <a:spcAft>
                <a:spcPts val="0"/>
              </a:spcAft>
              <a:buNone/>
            </a:pPr>
            <a:endParaRPr sz="20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2000" b="1">
                <a:solidFill>
                  <a:schemeClr val="lt1"/>
                </a:solidFill>
                <a:latin typeface="Century Gothic"/>
                <a:ea typeface="Century Gothic"/>
                <a:cs typeface="Century Gothic"/>
                <a:sym typeface="Century Gothic"/>
              </a:rPr>
              <a:t>Recommendation:</a:t>
            </a:r>
            <a:endParaRPr sz="2000">
              <a:solidFill>
                <a:schemeClr val="lt1"/>
              </a:solidFill>
              <a:latin typeface="Century Gothic"/>
              <a:ea typeface="Century Gothic"/>
              <a:cs typeface="Century Gothic"/>
              <a:sym typeface="Century Gothic"/>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Strengthen batting depth with power hitters such as Glenn Maxwell and AB de Villiers, capitalizing on the shorter boundaries.</a:t>
            </a:r>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Play to the home advantage by building the team around fast-scoring batsmen and bowlers who are adept at defending in high-scoring scenarios.</a:t>
            </a:r>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RCB should consider chasing more often at home, as they have historically had higher success rates when batting second.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5"/>
        <p:cNvGrpSpPr/>
        <p:nvPr/>
      </p:nvGrpSpPr>
      <p:grpSpPr>
        <a:xfrm>
          <a:off x="0" y="0"/>
          <a:ext cx="0" cy="0"/>
          <a:chOff x="0" y="0"/>
          <a:chExt cx="0" cy="0"/>
        </a:xfrm>
      </p:grpSpPr>
      <p:sp>
        <p:nvSpPr>
          <p:cNvPr id="276" name="Google Shape;276;p34"/>
          <p:cNvSpPr/>
          <p:nvPr/>
        </p:nvSpPr>
        <p:spPr>
          <a:xfrm>
            <a:off x="2472611" y="187518"/>
            <a:ext cx="7053943"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a:solidFill>
                  <a:schemeClr val="lt1"/>
                </a:solidFill>
                <a:latin typeface="Algerian"/>
                <a:ea typeface="Algerian"/>
                <a:cs typeface="Algerian"/>
                <a:sym typeface="Algerian"/>
              </a:rPr>
              <a:t>Strategic Recommendations</a:t>
            </a:r>
            <a:endParaRPr/>
          </a:p>
        </p:txBody>
      </p:sp>
      <p:pic>
        <p:nvPicPr>
          <p:cNvPr id="277" name="Google Shape;277;p34"/>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278" name="Google Shape;278;p34"/>
          <p:cNvSpPr txBox="1"/>
          <p:nvPr/>
        </p:nvSpPr>
        <p:spPr>
          <a:xfrm>
            <a:off x="1036435" y="1762542"/>
            <a:ext cx="9488496" cy="4832092"/>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chemeClr val="lt1"/>
              </a:buClr>
              <a:buSzPts val="2000"/>
              <a:buFont typeface="Century Gothic"/>
              <a:buAutoNum type="arabicPeriod" startAt="3"/>
            </a:pPr>
            <a:r>
              <a:rPr lang="en-US" sz="2000" b="1">
                <a:solidFill>
                  <a:schemeClr val="lt1"/>
                </a:solidFill>
                <a:latin typeface="Century Gothic"/>
                <a:ea typeface="Century Gothic"/>
                <a:cs typeface="Century Gothic"/>
                <a:sym typeface="Century Gothic"/>
              </a:rPr>
              <a:t>Prioritize Versatile All-rounders</a:t>
            </a:r>
            <a:endParaRPr/>
          </a:p>
          <a:p>
            <a:pPr marL="0" marR="0" lvl="0" indent="0" algn="l" rtl="0">
              <a:spcBef>
                <a:spcPts val="0"/>
              </a:spcBef>
              <a:spcAft>
                <a:spcPts val="0"/>
              </a:spcAft>
              <a:buNone/>
            </a:pPr>
            <a:endParaRPr sz="2000" b="1">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2000" b="1">
                <a:solidFill>
                  <a:schemeClr val="lt1"/>
                </a:solidFill>
                <a:latin typeface="Century Gothic"/>
                <a:ea typeface="Century Gothic"/>
                <a:cs typeface="Century Gothic"/>
                <a:sym typeface="Century Gothic"/>
              </a:rPr>
              <a:t>Insight:</a:t>
            </a:r>
            <a:r>
              <a:rPr lang="en-US" sz="2000">
                <a:solidFill>
                  <a:schemeClr val="lt1"/>
                </a:solidFill>
                <a:latin typeface="Century Gothic"/>
                <a:ea typeface="Century Gothic"/>
                <a:cs typeface="Century Gothic"/>
                <a:sym typeface="Century Gothic"/>
              </a:rPr>
              <a:t> </a:t>
            </a:r>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Players who contribute with both bat and ball have a significant impact on team flexibility, particularly in the T20 format.</a:t>
            </a:r>
            <a:endParaRPr/>
          </a:p>
          <a:p>
            <a:pPr marL="0" marR="0" lvl="0" indent="0" algn="l" rtl="0">
              <a:spcBef>
                <a:spcPts val="0"/>
              </a:spcBef>
              <a:spcAft>
                <a:spcPts val="0"/>
              </a:spcAft>
              <a:buClr>
                <a:schemeClr val="lt1"/>
              </a:buClr>
              <a:buSzPts val="2000"/>
              <a:buFont typeface="Arial"/>
              <a:buNone/>
            </a:pPr>
            <a:endParaRPr sz="200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2000" b="1">
                <a:solidFill>
                  <a:schemeClr val="lt1"/>
                </a:solidFill>
                <a:latin typeface="Century Gothic"/>
                <a:ea typeface="Century Gothic"/>
                <a:cs typeface="Century Gothic"/>
                <a:sym typeface="Century Gothic"/>
              </a:rPr>
              <a:t>Recommendation:</a:t>
            </a:r>
            <a:endParaRPr sz="2000">
              <a:solidFill>
                <a:schemeClr val="lt1"/>
              </a:solidFill>
              <a:latin typeface="Century Gothic"/>
              <a:ea typeface="Century Gothic"/>
              <a:cs typeface="Century Gothic"/>
              <a:sym typeface="Century Gothic"/>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Focus on acquiring or retaining versatile all-rounders like Hardik Pandya and Marcus Stoinis, who can adapt to both offensive and defensive roles.</a:t>
            </a:r>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Develop current players like Washington Sundar to take on a more versatile role, balancing the team and providing depth in both batting and bowling.</a:t>
            </a:r>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Use versatile players strategically during critical overs to either consolidate batting or break partnerships with bowling.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2"/>
        <p:cNvGrpSpPr/>
        <p:nvPr/>
      </p:nvGrpSpPr>
      <p:grpSpPr>
        <a:xfrm>
          <a:off x="0" y="0"/>
          <a:ext cx="0" cy="0"/>
          <a:chOff x="0" y="0"/>
          <a:chExt cx="0" cy="0"/>
        </a:xfrm>
      </p:grpSpPr>
      <p:sp>
        <p:nvSpPr>
          <p:cNvPr id="283" name="Google Shape;283;p35"/>
          <p:cNvSpPr/>
          <p:nvPr/>
        </p:nvSpPr>
        <p:spPr>
          <a:xfrm>
            <a:off x="3577960" y="289077"/>
            <a:ext cx="4226768" cy="803964"/>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a:solidFill>
                  <a:schemeClr val="lt1"/>
                </a:solidFill>
                <a:latin typeface="Algerian"/>
                <a:ea typeface="Algerian"/>
                <a:cs typeface="Algerian"/>
                <a:sym typeface="Algerian"/>
              </a:rPr>
              <a:t>Conclusion</a:t>
            </a:r>
            <a:endParaRPr/>
          </a:p>
        </p:txBody>
      </p:sp>
      <p:pic>
        <p:nvPicPr>
          <p:cNvPr id="284" name="Google Shape;284;p35"/>
          <p:cNvPicPr preferRelativeResize="0"/>
          <p:nvPr/>
        </p:nvPicPr>
        <p:blipFill rotWithShape="1">
          <a:blip r:embed="rId4">
            <a:alphaModFix/>
          </a:blip>
          <a:srcRect/>
          <a:stretch/>
        </p:blipFill>
        <p:spPr>
          <a:xfrm>
            <a:off x="0" y="44216"/>
            <a:ext cx="2072871" cy="1163683"/>
          </a:xfrm>
          <a:prstGeom prst="rect">
            <a:avLst/>
          </a:prstGeom>
          <a:noFill/>
          <a:ln>
            <a:noFill/>
          </a:ln>
        </p:spPr>
      </p:pic>
      <p:sp>
        <p:nvSpPr>
          <p:cNvPr id="285" name="Google Shape;285;p35"/>
          <p:cNvSpPr txBox="1"/>
          <p:nvPr/>
        </p:nvSpPr>
        <p:spPr>
          <a:xfrm>
            <a:off x="794327" y="1782147"/>
            <a:ext cx="10409382" cy="409342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By focusing on building a team around versatile players and death-over specialists, RCB can address the key challenges that have plagued their performance in past seasons.</a:t>
            </a:r>
            <a:endParaRPr/>
          </a:p>
          <a:p>
            <a:pPr marL="285750" marR="0" lvl="0" indent="-158750" algn="l" rtl="0">
              <a:spcBef>
                <a:spcPts val="0"/>
              </a:spcBef>
              <a:spcAft>
                <a:spcPts val="0"/>
              </a:spcAft>
              <a:buClr>
                <a:schemeClr val="lt1"/>
              </a:buClr>
              <a:buSzPts val="2000"/>
              <a:buFont typeface="Arial"/>
              <a:buNone/>
            </a:pPr>
            <a:endParaRPr sz="2000">
              <a:solidFill>
                <a:schemeClr val="lt1"/>
              </a:solidFill>
              <a:latin typeface="Century Gothic"/>
              <a:ea typeface="Century Gothic"/>
              <a:cs typeface="Century Gothic"/>
              <a:sym typeface="Century Gothic"/>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Leveraging the home ground advantage, particularly with explosive batting, will significantly increase their chances of winning critical home games.</a:t>
            </a:r>
            <a:endParaRPr/>
          </a:p>
          <a:p>
            <a:pPr marL="285750" marR="0" lvl="0" indent="-158750" algn="l" rtl="0">
              <a:spcBef>
                <a:spcPts val="0"/>
              </a:spcBef>
              <a:spcAft>
                <a:spcPts val="0"/>
              </a:spcAft>
              <a:buClr>
                <a:schemeClr val="lt1"/>
              </a:buClr>
              <a:buSzPts val="2000"/>
              <a:buFont typeface="Arial"/>
              <a:buNone/>
            </a:pPr>
            <a:endParaRPr sz="2000">
              <a:solidFill>
                <a:schemeClr val="lt1"/>
              </a:solidFill>
              <a:latin typeface="Century Gothic"/>
              <a:ea typeface="Century Gothic"/>
              <a:cs typeface="Century Gothic"/>
              <a:sym typeface="Century Gothic"/>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Strategic acquisition and nurturing of players who can perform under pressure, in both batting and bowling, will elevate RCB to become serious contenders in future IPL seasons.</a:t>
            </a:r>
            <a:endParaRPr/>
          </a:p>
          <a:p>
            <a:pPr marL="285750" marR="0" lvl="0" indent="-158750" algn="l" rtl="0">
              <a:spcBef>
                <a:spcPts val="0"/>
              </a:spcBef>
              <a:spcAft>
                <a:spcPts val="0"/>
              </a:spcAft>
              <a:buClr>
                <a:schemeClr val="lt1"/>
              </a:buClr>
              <a:buSzPts val="2000"/>
              <a:buFont typeface="Arial"/>
              <a:buNone/>
            </a:pPr>
            <a:endParaRPr sz="2000">
              <a:solidFill>
                <a:schemeClr val="lt1"/>
              </a:solidFill>
              <a:latin typeface="Century Gothic"/>
              <a:ea typeface="Century Gothic"/>
              <a:cs typeface="Century Gothic"/>
              <a:sym typeface="Century Gothic"/>
            </a:endParaRPr>
          </a:p>
          <a:p>
            <a:pPr marL="285750" marR="0" lvl="0" indent="-285750" algn="l" rtl="0">
              <a:spcBef>
                <a:spcPts val="0"/>
              </a:spcBef>
              <a:spcAft>
                <a:spcPts val="0"/>
              </a:spcAft>
              <a:buClr>
                <a:schemeClr val="lt1"/>
              </a:buClr>
              <a:buSzPts val="2000"/>
              <a:buFont typeface="Arial"/>
              <a:buChar char="•"/>
            </a:pPr>
            <a:r>
              <a:rPr lang="en-US" sz="2000">
                <a:solidFill>
                  <a:schemeClr val="lt1"/>
                </a:solidFill>
                <a:latin typeface="Century Gothic"/>
                <a:ea typeface="Century Gothic"/>
                <a:cs typeface="Century Gothic"/>
                <a:sym typeface="Century Gothic"/>
              </a:rPr>
              <a:t>Consistent execution of these strategies will not only improve RCB's tournament performance but also increase their likelihood of securing a IPL trophy.</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9"/>
        <p:cNvGrpSpPr/>
        <p:nvPr/>
      </p:nvGrpSpPr>
      <p:grpSpPr>
        <a:xfrm>
          <a:off x="0" y="0"/>
          <a:ext cx="0" cy="0"/>
          <a:chOff x="0" y="0"/>
          <a:chExt cx="0" cy="0"/>
        </a:xfrm>
      </p:grpSpPr>
      <p:pic>
        <p:nvPicPr>
          <p:cNvPr id="290" name="Google Shape;290;p36" title="indian-premier-league-ipl-2024-slide10.png"/>
          <p:cNvPicPr preferRelativeResize="0"/>
          <p:nvPr/>
        </p:nvPicPr>
        <p:blipFill>
          <a:blip r:embed="rId4">
            <a:alphaModFix/>
          </a:blip>
          <a:stretch>
            <a:fillRect/>
          </a:stretch>
        </p:blipFill>
        <p:spPr>
          <a:xfrm>
            <a:off x="-43725" y="0"/>
            <a:ext cx="12191999" cy="6926926"/>
          </a:xfrm>
          <a:prstGeom prst="rect">
            <a:avLst/>
          </a:prstGeom>
          <a:noFill/>
          <a:ln>
            <a:noFill/>
          </a:ln>
        </p:spPr>
      </p:pic>
    </p:spTree>
  </p:cSld>
  <p:clrMapOvr>
    <a:masterClrMapping/>
  </p:clrMapOvr>
</p:sld>
</file>

<file path=ppt/theme/theme1.xml><?xml version="1.0" encoding="utf-8"?>
<a:theme xmlns:a="http://schemas.openxmlformats.org/drawingml/2006/main" name="Ion">
  <a:themeElements>
    <a:clrScheme name="Ion">
      <a:dk1>
        <a:srgbClr val="000000"/>
      </a:dk1>
      <a:lt1>
        <a:srgbClr val="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1376</Words>
  <Application>Microsoft Office PowerPoint</Application>
  <PresentationFormat>Widescreen</PresentationFormat>
  <Paragraphs>176</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Algerian</vt:lpstr>
      <vt:lpstr>Calibri</vt:lpstr>
      <vt:lpstr>Arial</vt:lpstr>
      <vt:lpstr>Noto Sans Symbols</vt:lpstr>
      <vt:lpstr>Century Gothic</vt:lpstr>
      <vt:lpstr>Corbel</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Vamshi Bakkashetti</cp:lastModifiedBy>
  <cp:revision>2</cp:revision>
  <dcterms:modified xsi:type="dcterms:W3CDTF">2026-04-13T05:18:47Z</dcterms:modified>
</cp:coreProperties>
</file>